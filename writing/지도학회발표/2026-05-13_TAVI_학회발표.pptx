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0"/>
    <p:restoredTop sz="67836"/>
  </p:normalViewPr>
  <p:slideViewPr>
    <p:cSldViewPr snapToGrid="0" snapToObjects="1">
      <p:cViewPr varScale="1">
        <p:scale>
          <a:sx n="114" d="100"/>
          <a:sy n="114" d="100"/>
        </p:scale>
        <p:origin x="192" y="6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5711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안녕하세요</a:t>
            </a:r>
            <a:r>
              <a:rPr dirty="0"/>
              <a:t>. </a:t>
            </a:r>
            <a:r>
              <a:rPr dirty="0" err="1"/>
              <a:t>경희대학교</a:t>
            </a:r>
            <a:r>
              <a:rPr dirty="0"/>
              <a:t> </a:t>
            </a:r>
            <a:r>
              <a:rPr dirty="0" err="1"/>
              <a:t>기후사회과학융합학과</a:t>
            </a:r>
            <a:r>
              <a:rPr dirty="0"/>
              <a:t> </a:t>
            </a:r>
            <a:r>
              <a:rPr dirty="0" err="1"/>
              <a:t>석사과정</a:t>
            </a:r>
            <a:r>
              <a:rPr dirty="0"/>
              <a:t> </a:t>
            </a:r>
            <a:r>
              <a:rPr dirty="0" err="1"/>
              <a:t>신진입니다</a:t>
            </a:r>
            <a:r>
              <a:rPr dirty="0"/>
              <a:t>.</a:t>
            </a:r>
          </a:p>
          <a:p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발표할</a:t>
            </a:r>
            <a:r>
              <a:rPr dirty="0"/>
              <a:t> </a:t>
            </a:r>
            <a:r>
              <a:rPr dirty="0" err="1"/>
              <a:t>주제는</a:t>
            </a:r>
            <a:r>
              <a:rPr dirty="0"/>
              <a:t> 'Thermal Catchment </a:t>
            </a:r>
            <a:r>
              <a:rPr dirty="0" err="1"/>
              <a:t>Area'입니다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폭염이</a:t>
            </a:r>
            <a:r>
              <a:rPr dirty="0"/>
              <a:t> </a:t>
            </a:r>
            <a:r>
              <a:rPr dirty="0" err="1"/>
              <a:t>심해지는</a:t>
            </a:r>
            <a:r>
              <a:rPr dirty="0"/>
              <a:t> </a:t>
            </a:r>
            <a:r>
              <a:rPr dirty="0" err="1"/>
              <a:t>여름철</a:t>
            </a:r>
            <a:r>
              <a:rPr dirty="0"/>
              <a:t>, </a:t>
            </a:r>
            <a:r>
              <a:rPr dirty="0" err="1"/>
              <a:t>우리가</a:t>
            </a:r>
            <a:r>
              <a:rPr dirty="0"/>
              <a:t> </a:t>
            </a:r>
            <a:r>
              <a:rPr dirty="0" err="1"/>
              <a:t>걸어서</a:t>
            </a:r>
            <a:r>
              <a:rPr dirty="0"/>
              <a:t> </a:t>
            </a:r>
            <a:r>
              <a:rPr dirty="0" err="1"/>
              <a:t>갈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범위가</a:t>
            </a:r>
            <a:r>
              <a:rPr dirty="0"/>
              <a:t> </a:t>
            </a:r>
            <a:r>
              <a:rPr dirty="0" err="1"/>
              <a:t>열환경에</a:t>
            </a:r>
            <a:r>
              <a:rPr dirty="0"/>
              <a:t> </a:t>
            </a:r>
            <a:r>
              <a:rPr dirty="0" err="1"/>
              <a:t>의해</a:t>
            </a:r>
            <a:r>
              <a:rPr dirty="0"/>
              <a:t> </a:t>
            </a:r>
            <a:r>
              <a:rPr dirty="0" err="1"/>
              <a:t>실제로</a:t>
            </a:r>
            <a:r>
              <a:rPr dirty="0"/>
              <a:t> </a:t>
            </a:r>
            <a:r>
              <a:rPr dirty="0" err="1"/>
              <a:t>줄어든다는</a:t>
            </a:r>
            <a:r>
              <a:rPr dirty="0"/>
              <a:t> </a:t>
            </a:r>
            <a:r>
              <a:rPr dirty="0" err="1"/>
              <a:t>점에</a:t>
            </a:r>
            <a:r>
              <a:rPr dirty="0"/>
              <a:t> </a:t>
            </a:r>
            <a:r>
              <a:rPr dirty="0" err="1"/>
              <a:t>착안하여</a:t>
            </a:r>
            <a:r>
              <a:rPr dirty="0"/>
              <a:t>,</a:t>
            </a:r>
          </a:p>
          <a:p>
            <a:r>
              <a:rPr dirty="0"/>
              <a:t>MRT(</a:t>
            </a:r>
            <a:r>
              <a:rPr dirty="0" err="1"/>
              <a:t>평균복사온도</a:t>
            </a:r>
            <a:r>
              <a:rPr dirty="0"/>
              <a:t>)</a:t>
            </a:r>
            <a:r>
              <a:rPr dirty="0" err="1"/>
              <a:t>를</a:t>
            </a:r>
            <a:r>
              <a:rPr dirty="0"/>
              <a:t> </a:t>
            </a:r>
            <a:r>
              <a:rPr dirty="0" err="1"/>
              <a:t>기반으로</a:t>
            </a:r>
            <a:r>
              <a:rPr dirty="0"/>
              <a:t> </a:t>
            </a:r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새로운</a:t>
            </a:r>
            <a:r>
              <a:rPr dirty="0"/>
              <a:t> </a:t>
            </a:r>
            <a:r>
              <a:rPr dirty="0" err="1"/>
              <a:t>보행</a:t>
            </a:r>
            <a:r>
              <a:rPr dirty="0"/>
              <a:t> </a:t>
            </a:r>
            <a:r>
              <a:rPr dirty="0" err="1"/>
              <a:t>접근성</a:t>
            </a:r>
            <a:r>
              <a:rPr dirty="0"/>
              <a:t> </a:t>
            </a:r>
            <a:r>
              <a:rPr dirty="0" err="1"/>
              <a:t>공간</a:t>
            </a:r>
            <a:r>
              <a:rPr dirty="0"/>
              <a:t> </a:t>
            </a:r>
            <a:r>
              <a:rPr dirty="0" err="1"/>
              <a:t>단위를</a:t>
            </a:r>
            <a:r>
              <a:rPr dirty="0"/>
              <a:t> </a:t>
            </a:r>
            <a:r>
              <a:rPr dirty="0" err="1"/>
              <a:t>제안한</a:t>
            </a:r>
            <a:r>
              <a:rPr dirty="0"/>
              <a:t> </a:t>
            </a:r>
            <a:r>
              <a:rPr dirty="0" err="1"/>
              <a:t>연구입니다</a:t>
            </a:r>
            <a:r>
              <a:rPr dirty="0"/>
              <a:t>.</a:t>
            </a:r>
          </a:p>
          <a:p>
            <a:r>
              <a:rPr dirty="0" err="1"/>
              <a:t>발표</a:t>
            </a:r>
            <a:r>
              <a:rPr dirty="0"/>
              <a:t> </a:t>
            </a:r>
            <a:r>
              <a:rPr dirty="0" err="1"/>
              <a:t>시간은</a:t>
            </a:r>
            <a:r>
              <a:rPr dirty="0"/>
              <a:t> </a:t>
            </a:r>
            <a:r>
              <a:rPr dirty="0" err="1"/>
              <a:t>약</a:t>
            </a:r>
            <a:r>
              <a:rPr dirty="0"/>
              <a:t> 15분입니다.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목차를 간략히 소개드리겠습니다.</a:t>
            </a:r>
          </a:p>
          <a:p>
            <a:r>
              <a:t>먼저 연구 배경과 목적, 연구 지역과 데이터를 설명드리고,</a:t>
            </a:r>
          </a:p>
          <a:p>
            <a:r>
              <a:t>방법론 파트에서는 MRT 산출 방법, Thermal Catchment 개념, 그리고 Monte Carlo 설계를 설명드립니다.</a:t>
            </a:r>
          </a:p>
          <a:p>
            <a:r>
              <a:t>분석 결과에서는 S-curve 발견, TARR 공간 분포, 시간대별 비교, 회귀분석 순으로 보여드리겠습니다.</a:t>
            </a:r>
          </a:p>
          <a:p>
            <a:r>
              <a:t>마지막으로 한계점과 결론으로 마무리하겠습니다.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우리가</a:t>
            </a:r>
            <a:r>
              <a:rPr dirty="0"/>
              <a:t> </a:t>
            </a:r>
            <a:r>
              <a:rPr dirty="0" err="1"/>
              <a:t>흔히</a:t>
            </a:r>
            <a:r>
              <a:rPr dirty="0"/>
              <a:t> </a:t>
            </a:r>
            <a:r>
              <a:rPr dirty="0" err="1"/>
              <a:t>역세권</a:t>
            </a:r>
            <a:r>
              <a:rPr dirty="0"/>
              <a:t> </a:t>
            </a:r>
            <a:r>
              <a:rPr dirty="0" err="1"/>
              <a:t>분석에서</a:t>
            </a:r>
            <a:r>
              <a:rPr dirty="0"/>
              <a:t> </a:t>
            </a:r>
            <a:r>
              <a:rPr dirty="0" err="1"/>
              <a:t>사용하는</a:t>
            </a:r>
            <a:r>
              <a:rPr dirty="0"/>
              <a:t> Catchment Area, </a:t>
            </a:r>
            <a:r>
              <a:rPr dirty="0" err="1"/>
              <a:t>즉</a:t>
            </a:r>
            <a:r>
              <a:rPr dirty="0"/>
              <a:t> </a:t>
            </a:r>
            <a:r>
              <a:rPr dirty="0" err="1"/>
              <a:t>역에서</a:t>
            </a:r>
            <a:r>
              <a:rPr dirty="0"/>
              <a:t> </a:t>
            </a:r>
            <a:r>
              <a:rPr dirty="0" err="1"/>
              <a:t>걸어서</a:t>
            </a:r>
            <a:r>
              <a:rPr dirty="0"/>
              <a:t> </a:t>
            </a:r>
            <a:r>
              <a:rPr dirty="0" err="1"/>
              <a:t>갈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범위는</a:t>
            </a:r>
            <a:endParaRPr dirty="0"/>
          </a:p>
          <a:p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거리나</a:t>
            </a:r>
            <a:r>
              <a:rPr dirty="0"/>
              <a:t> </a:t>
            </a:r>
            <a:r>
              <a:rPr dirty="0" err="1"/>
              <a:t>시간만을</a:t>
            </a:r>
            <a:r>
              <a:rPr dirty="0"/>
              <a:t> </a:t>
            </a:r>
            <a:r>
              <a:rPr dirty="0" err="1"/>
              <a:t>기준으로</a:t>
            </a:r>
            <a:r>
              <a:rPr dirty="0"/>
              <a:t> </a:t>
            </a:r>
            <a:r>
              <a:rPr dirty="0" err="1"/>
              <a:t>합니다</a:t>
            </a:r>
            <a:r>
              <a:rPr dirty="0"/>
              <a:t>.</a:t>
            </a:r>
          </a:p>
          <a:p>
            <a:r>
              <a:rPr dirty="0" err="1"/>
              <a:t>그런데</a:t>
            </a:r>
            <a:r>
              <a:rPr dirty="0"/>
              <a:t> </a:t>
            </a:r>
            <a:r>
              <a:rPr dirty="0" err="1"/>
              <a:t>폭염이</a:t>
            </a:r>
            <a:r>
              <a:rPr dirty="0"/>
              <a:t> </a:t>
            </a:r>
            <a:r>
              <a:rPr dirty="0" err="1"/>
              <a:t>심한</a:t>
            </a:r>
            <a:r>
              <a:rPr dirty="0"/>
              <a:t> </a:t>
            </a:r>
            <a:r>
              <a:rPr dirty="0" err="1"/>
              <a:t>여름철에는</a:t>
            </a:r>
            <a:r>
              <a:rPr dirty="0"/>
              <a:t> </a:t>
            </a:r>
            <a:r>
              <a:rPr dirty="0" err="1"/>
              <a:t>어떨까요</a:t>
            </a:r>
            <a:r>
              <a:rPr dirty="0"/>
              <a:t>?</a:t>
            </a:r>
          </a:p>
          <a:p>
            <a:r>
              <a:rPr dirty="0" err="1"/>
              <a:t>사람들이</a:t>
            </a:r>
            <a:r>
              <a:rPr dirty="0"/>
              <a:t> </a:t>
            </a:r>
            <a:r>
              <a:rPr dirty="0" err="1"/>
              <a:t>뜨거운</a:t>
            </a:r>
            <a:r>
              <a:rPr dirty="0"/>
              <a:t> </a:t>
            </a:r>
            <a:r>
              <a:rPr dirty="0" err="1"/>
              <a:t>햇볕이</a:t>
            </a:r>
            <a:r>
              <a:rPr dirty="0"/>
              <a:t> </a:t>
            </a:r>
            <a:r>
              <a:rPr dirty="0" err="1"/>
              <a:t>내리쬐는</a:t>
            </a:r>
            <a:r>
              <a:rPr dirty="0"/>
              <a:t> </a:t>
            </a:r>
            <a:r>
              <a:rPr dirty="0" err="1"/>
              <a:t>길을</a:t>
            </a:r>
            <a:r>
              <a:rPr dirty="0"/>
              <a:t> </a:t>
            </a:r>
            <a:r>
              <a:rPr dirty="0" err="1"/>
              <a:t>피해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경로를</a:t>
            </a:r>
            <a:r>
              <a:rPr dirty="0"/>
              <a:t> </a:t>
            </a:r>
            <a:r>
              <a:rPr dirty="0" err="1"/>
              <a:t>선택하거나</a:t>
            </a:r>
            <a:r>
              <a:rPr dirty="0"/>
              <a:t>, </a:t>
            </a:r>
            <a:r>
              <a:rPr dirty="0" err="1"/>
              <a:t>아예</a:t>
            </a:r>
            <a:r>
              <a:rPr dirty="0"/>
              <a:t> </a:t>
            </a:r>
            <a:r>
              <a:rPr dirty="0" err="1"/>
              <a:t>포기하는</a:t>
            </a:r>
            <a:r>
              <a:rPr dirty="0"/>
              <a:t> </a:t>
            </a:r>
            <a:r>
              <a:rPr dirty="0" err="1"/>
              <a:t>경우가</a:t>
            </a:r>
            <a:r>
              <a:rPr dirty="0"/>
              <a:t> </a:t>
            </a:r>
            <a:r>
              <a:rPr dirty="0" err="1"/>
              <a:t>생깁니다</a:t>
            </a:r>
            <a:r>
              <a:rPr dirty="0"/>
              <a:t>.</a:t>
            </a:r>
          </a:p>
          <a:p>
            <a:r>
              <a:rPr dirty="0"/>
              <a:t>UTCI 38°C </a:t>
            </a:r>
            <a:r>
              <a:rPr dirty="0" err="1"/>
              <a:t>이상은</a:t>
            </a:r>
            <a:r>
              <a:rPr dirty="0"/>
              <a:t> </a:t>
            </a:r>
            <a:r>
              <a:rPr dirty="0" err="1"/>
              <a:t>국제</a:t>
            </a:r>
            <a:r>
              <a:rPr dirty="0"/>
              <a:t> </a:t>
            </a:r>
            <a:r>
              <a:rPr dirty="0" err="1"/>
              <a:t>기준으로</a:t>
            </a:r>
            <a:r>
              <a:rPr dirty="0"/>
              <a:t> "</a:t>
            </a:r>
            <a:r>
              <a:rPr dirty="0" err="1"/>
              <a:t>매우</a:t>
            </a:r>
            <a:r>
              <a:rPr dirty="0"/>
              <a:t> </a:t>
            </a:r>
            <a:r>
              <a:rPr dirty="0" err="1"/>
              <a:t>강한</a:t>
            </a:r>
            <a:r>
              <a:rPr dirty="0"/>
              <a:t> </a:t>
            </a:r>
            <a:r>
              <a:rPr dirty="0" err="1"/>
              <a:t>열</a:t>
            </a:r>
            <a:r>
              <a:rPr dirty="0"/>
              <a:t> </a:t>
            </a:r>
            <a:r>
              <a:rPr dirty="0" err="1"/>
              <a:t>스트레스</a:t>
            </a:r>
            <a:r>
              <a:rPr dirty="0"/>
              <a:t>" </a:t>
            </a:r>
            <a:r>
              <a:rPr dirty="0" err="1"/>
              <a:t>단계로</a:t>
            </a:r>
            <a:r>
              <a:rPr dirty="0"/>
              <a:t>,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조건에서</a:t>
            </a:r>
            <a:r>
              <a:rPr dirty="0"/>
              <a:t> </a:t>
            </a:r>
            <a:r>
              <a:rPr dirty="0" err="1"/>
              <a:t>보행은</a:t>
            </a:r>
            <a:r>
              <a:rPr dirty="0"/>
              <a:t> </a:t>
            </a:r>
            <a:r>
              <a:rPr dirty="0" err="1"/>
              <a:t>건강에</a:t>
            </a:r>
            <a:r>
              <a:rPr dirty="0"/>
              <a:t> </a:t>
            </a:r>
            <a:r>
              <a:rPr dirty="0" err="1"/>
              <a:t>심각한</a:t>
            </a:r>
            <a:r>
              <a:rPr dirty="0"/>
              <a:t> </a:t>
            </a:r>
            <a:r>
              <a:rPr dirty="0" err="1"/>
              <a:t>위험입니다</a:t>
            </a:r>
            <a:r>
              <a:rPr dirty="0"/>
              <a:t>.</a:t>
            </a:r>
          </a:p>
          <a:p>
            <a:r>
              <a:rPr dirty="0" err="1"/>
              <a:t>그런데</a:t>
            </a:r>
            <a:r>
              <a:rPr dirty="0"/>
              <a:t>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연구</a:t>
            </a:r>
            <a:r>
              <a:rPr dirty="0"/>
              <a:t> </a:t>
            </a:r>
            <a:r>
              <a:rPr dirty="0" err="1"/>
              <a:t>어디에도</a:t>
            </a:r>
            <a:r>
              <a:rPr dirty="0"/>
              <a:t>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열환경</a:t>
            </a:r>
            <a:r>
              <a:rPr dirty="0"/>
              <a:t> </a:t>
            </a:r>
            <a:r>
              <a:rPr dirty="0" err="1"/>
              <a:t>제약을</a:t>
            </a:r>
            <a:r>
              <a:rPr dirty="0"/>
              <a:t> </a:t>
            </a:r>
            <a:r>
              <a:rPr dirty="0" err="1"/>
              <a:t>공간</a:t>
            </a:r>
            <a:r>
              <a:rPr dirty="0"/>
              <a:t> </a:t>
            </a:r>
            <a:r>
              <a:rPr dirty="0" err="1"/>
              <a:t>단위</a:t>
            </a:r>
            <a:r>
              <a:rPr dirty="0"/>
              <a:t> </a:t>
            </a:r>
            <a:r>
              <a:rPr dirty="0" err="1"/>
              <a:t>자체에</a:t>
            </a:r>
            <a:r>
              <a:rPr dirty="0"/>
              <a:t> </a:t>
            </a:r>
            <a:r>
              <a:rPr dirty="0" err="1"/>
              <a:t>반영한</a:t>
            </a:r>
            <a:r>
              <a:rPr dirty="0"/>
              <a:t> </a:t>
            </a:r>
            <a:r>
              <a:rPr dirty="0" err="1"/>
              <a:t>연구는</a:t>
            </a:r>
            <a:r>
              <a:rPr dirty="0"/>
              <a:t> </a:t>
            </a:r>
            <a:r>
              <a:rPr dirty="0" err="1"/>
              <a:t>없습니다</a:t>
            </a:r>
            <a:r>
              <a:rPr dirty="0"/>
              <a:t>.</a:t>
            </a:r>
          </a:p>
          <a:p>
            <a:r>
              <a:rPr dirty="0" err="1"/>
              <a:t>이것이</a:t>
            </a:r>
            <a:r>
              <a:rPr dirty="0"/>
              <a:t> </a:t>
            </a:r>
            <a:r>
              <a:rPr dirty="0" err="1"/>
              <a:t>바로</a:t>
            </a:r>
            <a:r>
              <a:rPr dirty="0"/>
              <a:t> </a:t>
            </a:r>
            <a:r>
              <a:rPr dirty="0" err="1"/>
              <a:t>저희</a:t>
            </a:r>
            <a:r>
              <a:rPr dirty="0"/>
              <a:t> </a:t>
            </a:r>
            <a:r>
              <a:rPr dirty="0" err="1"/>
              <a:t>연구가</a:t>
            </a:r>
            <a:r>
              <a:rPr dirty="0"/>
              <a:t> </a:t>
            </a:r>
            <a:r>
              <a:rPr dirty="0" err="1"/>
              <a:t>출발한</a:t>
            </a:r>
            <a:r>
              <a:rPr dirty="0"/>
              <a:t> </a:t>
            </a:r>
            <a:r>
              <a:rPr dirty="0" err="1"/>
              <a:t>지점입니다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연구 목적은 세 가지입니다.</a:t>
            </a:r>
          </a:p>
          <a:p>
            <a:r>
              <a:t>첫째, Thermal Catchment Area라는 새로운 공간 단위 개념을 제안합니다.</a:t>
            </a:r>
          </a:p>
          <a:p>
            <a:r>
              <a:t>둘째, 서울 성동구를 대상으로 실제 데이터로 검증합니다.</a:t>
            </a:r>
          </a:p>
          <a:p>
            <a:r>
              <a:t>셋째, 임계값이 얼마냐에 따라 결과가 얼마나 달라지는지를 Monte Carlo로 정량화합니다.</a:t>
            </a:r>
          </a:p>
          <a:p>
            <a:endParaRPr/>
          </a:p>
          <a:p>
            <a:r>
              <a:t>연구 질문도 이 세 가지에 대응합니다.</a:t>
            </a:r>
          </a:p>
          <a:p>
            <a:r>
              <a:t>첫 번째 질문은 폭염 시 실제로 정류장 접근이 얼마나 줄어드는가,</a:t>
            </a:r>
          </a:p>
          <a:p>
            <a:r>
              <a:t>두 번째는 임계값이 불확실할 때 그 결과의 범위가 어느 정도인가,</a:t>
            </a:r>
          </a:p>
          <a:p>
            <a:r>
              <a:t>세 번째는 어떤 공간 환경에서 접근성 손실이 더 크게 나타나는가입니다.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연구 지역은 서울 성동구입니다.</a:t>
            </a:r>
          </a:p>
          <a:p>
            <a:r>
              <a:t>성동구는 서울숲, 한강, 중랑천 등 녹지와 수변 공간이 있는 반면,</a:t>
            </a:r>
          </a:p>
          <a:p>
            <a:r>
              <a:t>왕십리·성수 등 고밀도 업무지구와 아파트 단지도 혼재하여</a:t>
            </a:r>
          </a:p>
          <a:p>
            <a:r>
              <a:t>열환경이 공간적으로 매우 다양합니다.</a:t>
            </a:r>
          </a:p>
          <a:p>
            <a:r>
              <a:t>그래서 Thermal Catchment가 공간적으로 어떻게 달라지는지 보기에 최적의 연구 지역입니다.</a:t>
            </a:r>
          </a:p>
          <a:p>
            <a:endParaRPr/>
          </a:p>
          <a:p>
            <a:r>
              <a:t>오른쪽 그림은 분석에 활용한 S-DoT 기상 센서 57개소의 위치입니다.</a:t>
            </a:r>
          </a:p>
          <a:p>
            <a:r>
              <a:t>성동구 전역에 약 300~500m 간격으로 설치되어 있고,</a:t>
            </a:r>
          </a:p>
          <a:p>
            <a:r>
              <a:t>이 센서에서 기온, 상대습도, 풍속을 수집해 MRT 계산에 활용했습니다.</a:t>
            </a:r>
          </a:p>
          <a:p>
            <a:r>
              <a:t>대중교통 정류장은 총 489개이며, 보행 네트워크 노드 기준으로는 385개를 사용했습니다.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방법론의</a:t>
            </a:r>
            <a:r>
              <a:rPr dirty="0"/>
              <a:t> </a:t>
            </a:r>
            <a:r>
              <a:rPr dirty="0" err="1"/>
              <a:t>첫</a:t>
            </a:r>
            <a:r>
              <a:rPr dirty="0"/>
              <a:t> </a:t>
            </a:r>
            <a:r>
              <a:rPr dirty="0" err="1"/>
              <a:t>번째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MRT </a:t>
            </a:r>
            <a:r>
              <a:rPr dirty="0" err="1"/>
              <a:t>산출입니다</a:t>
            </a:r>
            <a:r>
              <a:rPr dirty="0"/>
              <a:t>.</a:t>
            </a:r>
          </a:p>
          <a:p>
            <a:r>
              <a:rPr dirty="0"/>
              <a:t>MRT, </a:t>
            </a:r>
            <a:r>
              <a:rPr dirty="0" err="1"/>
              <a:t>즉</a:t>
            </a:r>
            <a:r>
              <a:rPr dirty="0"/>
              <a:t> </a:t>
            </a:r>
            <a:r>
              <a:rPr dirty="0" err="1"/>
              <a:t>평균복사온도는</a:t>
            </a:r>
            <a:r>
              <a:rPr dirty="0"/>
              <a:t> </a:t>
            </a:r>
            <a:r>
              <a:rPr dirty="0" err="1"/>
              <a:t>보행자가</a:t>
            </a:r>
            <a:r>
              <a:rPr dirty="0"/>
              <a:t> </a:t>
            </a:r>
            <a:r>
              <a:rPr dirty="0" err="1"/>
              <a:t>사방에서</a:t>
            </a:r>
            <a:r>
              <a:rPr dirty="0"/>
              <a:t> </a:t>
            </a:r>
            <a:r>
              <a:rPr dirty="0" err="1"/>
              <a:t>받는</a:t>
            </a:r>
            <a:r>
              <a:rPr dirty="0"/>
              <a:t> </a:t>
            </a:r>
            <a:r>
              <a:rPr dirty="0" err="1"/>
              <a:t>복사</a:t>
            </a:r>
            <a:r>
              <a:rPr dirty="0"/>
              <a:t> </a:t>
            </a:r>
            <a:r>
              <a:rPr dirty="0" err="1"/>
              <a:t>에너지를</a:t>
            </a:r>
            <a:r>
              <a:rPr dirty="0"/>
              <a:t> </a:t>
            </a:r>
            <a:r>
              <a:rPr dirty="0" err="1"/>
              <a:t>통합한</a:t>
            </a:r>
            <a:r>
              <a:rPr dirty="0"/>
              <a:t> </a:t>
            </a:r>
            <a:r>
              <a:rPr dirty="0" err="1"/>
              <a:t>지표로</a:t>
            </a:r>
            <a:r>
              <a:rPr dirty="0"/>
              <a:t>,</a:t>
            </a:r>
          </a:p>
          <a:p>
            <a:r>
              <a:rPr dirty="0" err="1"/>
              <a:t>열</a:t>
            </a:r>
            <a:r>
              <a:rPr dirty="0"/>
              <a:t> </a:t>
            </a:r>
            <a:r>
              <a:rPr dirty="0" err="1"/>
              <a:t>스트레스</a:t>
            </a:r>
            <a:r>
              <a:rPr dirty="0"/>
              <a:t> </a:t>
            </a:r>
            <a:r>
              <a:rPr dirty="0" err="1"/>
              <a:t>체감에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큰</a:t>
            </a:r>
            <a:r>
              <a:rPr dirty="0"/>
              <a:t> </a:t>
            </a:r>
            <a:r>
              <a:rPr dirty="0" err="1"/>
              <a:t>영향을</a:t>
            </a:r>
            <a:r>
              <a:rPr dirty="0"/>
              <a:t> </a:t>
            </a:r>
            <a:r>
              <a:rPr dirty="0" err="1"/>
              <a:t>주는</a:t>
            </a:r>
            <a:r>
              <a:rPr dirty="0"/>
              <a:t> </a:t>
            </a:r>
            <a:r>
              <a:rPr dirty="0" err="1"/>
              <a:t>요소입니다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저희는</a:t>
            </a:r>
            <a:r>
              <a:rPr dirty="0"/>
              <a:t> SOLWEIG </a:t>
            </a:r>
            <a:r>
              <a:rPr dirty="0" err="1"/>
              <a:t>모형을</a:t>
            </a:r>
            <a:r>
              <a:rPr dirty="0"/>
              <a:t> </a:t>
            </a:r>
            <a:r>
              <a:rPr dirty="0" err="1"/>
              <a:t>Python으로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구현해서</a:t>
            </a:r>
            <a:endParaRPr dirty="0"/>
          </a:p>
          <a:p>
            <a:r>
              <a:rPr dirty="0" err="1"/>
              <a:t>보행</a:t>
            </a:r>
            <a:r>
              <a:rPr dirty="0"/>
              <a:t> </a:t>
            </a:r>
            <a:r>
              <a:rPr dirty="0" err="1"/>
              <a:t>네트워크</a:t>
            </a:r>
            <a:r>
              <a:rPr dirty="0"/>
              <a:t> </a:t>
            </a:r>
            <a:r>
              <a:rPr dirty="0" err="1"/>
              <a:t>링크</a:t>
            </a:r>
            <a:r>
              <a:rPr dirty="0"/>
              <a:t> 1만 5천여 </a:t>
            </a:r>
            <a:r>
              <a:rPr dirty="0" err="1"/>
              <a:t>개</a:t>
            </a:r>
            <a:r>
              <a:rPr dirty="0"/>
              <a:t> </a:t>
            </a:r>
            <a:r>
              <a:rPr dirty="0" err="1"/>
              <a:t>각각에</a:t>
            </a:r>
            <a:r>
              <a:rPr dirty="0"/>
              <a:t> </a:t>
            </a:r>
            <a:r>
              <a:rPr dirty="0" err="1"/>
              <a:t>대해</a:t>
            </a:r>
            <a:r>
              <a:rPr dirty="0"/>
              <a:t> </a:t>
            </a:r>
            <a:r>
              <a:rPr dirty="0" err="1"/>
              <a:t>MRT를</a:t>
            </a:r>
            <a:r>
              <a:rPr dirty="0"/>
              <a:t> </a:t>
            </a:r>
            <a:r>
              <a:rPr dirty="0" err="1"/>
              <a:t>산출했습니다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변수는</a:t>
            </a:r>
            <a:r>
              <a:rPr dirty="0"/>
              <a:t> </a:t>
            </a:r>
            <a:r>
              <a:rPr dirty="0" err="1"/>
              <a:t>SVF입니다</a:t>
            </a:r>
            <a:r>
              <a:rPr dirty="0"/>
              <a:t>.</a:t>
            </a:r>
          </a:p>
          <a:p>
            <a:r>
              <a:rPr dirty="0" err="1"/>
              <a:t>SVF가</a:t>
            </a:r>
            <a:r>
              <a:rPr dirty="0"/>
              <a:t> </a:t>
            </a:r>
            <a:r>
              <a:rPr dirty="0" err="1"/>
              <a:t>낮을수록</a:t>
            </a:r>
            <a:r>
              <a:rPr dirty="0"/>
              <a:t> </a:t>
            </a:r>
            <a:r>
              <a:rPr dirty="0" err="1"/>
              <a:t>건물이</a:t>
            </a:r>
            <a:r>
              <a:rPr dirty="0"/>
              <a:t> </a:t>
            </a:r>
            <a:r>
              <a:rPr dirty="0" err="1"/>
              <a:t>하늘을</a:t>
            </a:r>
            <a:r>
              <a:rPr dirty="0"/>
              <a:t>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가린다는</a:t>
            </a:r>
            <a:r>
              <a:rPr dirty="0"/>
              <a:t> </a:t>
            </a:r>
            <a:r>
              <a:rPr dirty="0" err="1"/>
              <a:t>의미이고</a:t>
            </a:r>
            <a:r>
              <a:rPr dirty="0"/>
              <a:t>,</a:t>
            </a:r>
          </a:p>
          <a:p>
            <a:r>
              <a:rPr dirty="0" err="1"/>
              <a:t>그만큼</a:t>
            </a:r>
            <a:r>
              <a:rPr dirty="0"/>
              <a:t> </a:t>
            </a:r>
            <a:r>
              <a:rPr dirty="0" err="1"/>
              <a:t>직사광선도</a:t>
            </a:r>
            <a:r>
              <a:rPr dirty="0"/>
              <a:t> </a:t>
            </a:r>
            <a:r>
              <a:rPr dirty="0" err="1"/>
              <a:t>차단되어</a:t>
            </a:r>
            <a:r>
              <a:rPr dirty="0"/>
              <a:t> </a:t>
            </a:r>
            <a:r>
              <a:rPr dirty="0" err="1"/>
              <a:t>MRT가</a:t>
            </a:r>
            <a:r>
              <a:rPr dirty="0"/>
              <a:t> </a:t>
            </a:r>
            <a:r>
              <a:rPr dirty="0" err="1"/>
              <a:t>낮아집니다</a:t>
            </a:r>
            <a:r>
              <a:rPr dirty="0"/>
              <a:t>.</a:t>
            </a:r>
          </a:p>
          <a:p>
            <a:r>
              <a:rPr dirty="0" err="1"/>
              <a:t>오른쪽</a:t>
            </a:r>
            <a:r>
              <a:rPr dirty="0"/>
              <a:t> </a:t>
            </a:r>
            <a:r>
              <a:rPr dirty="0" err="1"/>
              <a:t>그림을</a:t>
            </a:r>
            <a:r>
              <a:rPr dirty="0"/>
              <a:t> </a:t>
            </a:r>
            <a:r>
              <a:rPr dirty="0" err="1"/>
              <a:t>보시면</a:t>
            </a:r>
            <a:r>
              <a:rPr dirty="0"/>
              <a:t>, </a:t>
            </a:r>
            <a:r>
              <a:rPr dirty="0" err="1"/>
              <a:t>건물이</a:t>
            </a:r>
            <a:r>
              <a:rPr dirty="0"/>
              <a:t> </a:t>
            </a:r>
            <a:r>
              <a:rPr dirty="0" err="1"/>
              <a:t>밀집한</a:t>
            </a:r>
            <a:r>
              <a:rPr dirty="0"/>
              <a:t> </a:t>
            </a:r>
            <a:r>
              <a:rPr dirty="0" err="1"/>
              <a:t>구역의</a:t>
            </a:r>
            <a:r>
              <a:rPr dirty="0"/>
              <a:t> </a:t>
            </a:r>
            <a:r>
              <a:rPr dirty="0" err="1"/>
              <a:t>링크들은</a:t>
            </a:r>
            <a:r>
              <a:rPr dirty="0"/>
              <a:t> </a:t>
            </a:r>
            <a:r>
              <a:rPr dirty="0" err="1"/>
              <a:t>MRT가</a:t>
            </a:r>
            <a:r>
              <a:rPr dirty="0"/>
              <a:t> </a:t>
            </a:r>
            <a:r>
              <a:rPr dirty="0" err="1"/>
              <a:t>상대적으로</a:t>
            </a:r>
            <a:r>
              <a:rPr dirty="0"/>
              <a:t> </a:t>
            </a:r>
            <a:r>
              <a:rPr dirty="0" err="1"/>
              <a:t>낮고</a:t>
            </a:r>
            <a:r>
              <a:rPr dirty="0"/>
              <a:t>,</a:t>
            </a:r>
          </a:p>
          <a:p>
            <a:r>
              <a:rPr dirty="0" err="1"/>
              <a:t>한강변이나</a:t>
            </a:r>
            <a:r>
              <a:rPr dirty="0"/>
              <a:t> </a:t>
            </a:r>
            <a:r>
              <a:rPr dirty="0" err="1"/>
              <a:t>서울숲</a:t>
            </a:r>
            <a:r>
              <a:rPr dirty="0"/>
              <a:t> </a:t>
            </a:r>
            <a:r>
              <a:rPr dirty="0" err="1"/>
              <a:t>주변</a:t>
            </a:r>
            <a:r>
              <a:rPr dirty="0"/>
              <a:t> </a:t>
            </a:r>
            <a:r>
              <a:rPr dirty="0" err="1"/>
              <a:t>개방</a:t>
            </a:r>
            <a:r>
              <a:rPr dirty="0"/>
              <a:t> </a:t>
            </a:r>
            <a:r>
              <a:rPr dirty="0" err="1"/>
              <a:t>구역은</a:t>
            </a:r>
            <a:r>
              <a:rPr dirty="0"/>
              <a:t> </a:t>
            </a:r>
            <a:r>
              <a:rPr dirty="0" err="1"/>
              <a:t>MRT가</a:t>
            </a:r>
            <a:r>
              <a:rPr dirty="0"/>
              <a:t> </a:t>
            </a:r>
            <a:r>
              <a:rPr dirty="0" err="1"/>
              <a:t>높게</a:t>
            </a:r>
            <a:r>
              <a:rPr dirty="0"/>
              <a:t> </a:t>
            </a:r>
            <a:r>
              <a:rPr dirty="0" err="1"/>
              <a:t>나타나는</a:t>
            </a:r>
            <a:r>
              <a:rPr dirty="0"/>
              <a:t> </a:t>
            </a:r>
            <a:r>
              <a:rPr dirty="0" err="1"/>
              <a:t>것을</a:t>
            </a:r>
            <a:r>
              <a:rPr dirty="0"/>
              <a:t> </a:t>
            </a:r>
            <a:r>
              <a:rPr dirty="0" err="1"/>
              <a:t>확인할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번째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Thermal Catchment Area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정의입니다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기존의</a:t>
            </a:r>
            <a:r>
              <a:rPr dirty="0"/>
              <a:t> Classic </a:t>
            </a:r>
            <a:r>
              <a:rPr dirty="0" err="1"/>
              <a:t>Catchment는</a:t>
            </a:r>
            <a:r>
              <a:rPr dirty="0"/>
              <a:t> 4.5 km/h </a:t>
            </a:r>
            <a:r>
              <a:rPr dirty="0" err="1"/>
              <a:t>보행</a:t>
            </a:r>
            <a:r>
              <a:rPr dirty="0"/>
              <a:t> </a:t>
            </a:r>
            <a:r>
              <a:rPr dirty="0" err="1"/>
              <a:t>속도로</a:t>
            </a:r>
            <a:r>
              <a:rPr dirty="0"/>
              <a:t> 15분 </a:t>
            </a:r>
            <a:r>
              <a:rPr dirty="0" err="1"/>
              <a:t>안에</a:t>
            </a:r>
            <a:r>
              <a:rPr dirty="0"/>
              <a:t> </a:t>
            </a:r>
            <a:r>
              <a:rPr dirty="0" err="1"/>
              <a:t>갈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정류장</a:t>
            </a:r>
            <a:r>
              <a:rPr dirty="0"/>
              <a:t> </a:t>
            </a:r>
            <a:r>
              <a:rPr dirty="0" err="1"/>
              <a:t>수를</a:t>
            </a:r>
            <a:r>
              <a:rPr dirty="0"/>
              <a:t> </a:t>
            </a:r>
            <a:r>
              <a:rPr dirty="0" err="1"/>
              <a:t>셉니다</a:t>
            </a:r>
            <a:r>
              <a:rPr dirty="0"/>
              <a:t>.</a:t>
            </a:r>
          </a:p>
          <a:p>
            <a:r>
              <a:rPr dirty="0" err="1"/>
              <a:t>여기에</a:t>
            </a:r>
            <a:r>
              <a:rPr dirty="0"/>
              <a:t> </a:t>
            </a:r>
            <a:r>
              <a:rPr dirty="0" err="1"/>
              <a:t>열환경</a:t>
            </a:r>
            <a:r>
              <a:rPr dirty="0"/>
              <a:t> </a:t>
            </a:r>
            <a:r>
              <a:rPr dirty="0" err="1"/>
              <a:t>제약을</a:t>
            </a:r>
            <a:r>
              <a:rPr dirty="0"/>
              <a:t> </a:t>
            </a:r>
            <a:r>
              <a:rPr dirty="0" err="1"/>
              <a:t>추가한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Thermal </a:t>
            </a:r>
            <a:r>
              <a:rPr dirty="0" err="1"/>
              <a:t>Catchment입니다</a:t>
            </a:r>
            <a:r>
              <a:rPr dirty="0"/>
              <a:t>.</a:t>
            </a:r>
          </a:p>
          <a:p>
            <a:r>
              <a:rPr dirty="0" err="1"/>
              <a:t>MRT가</a:t>
            </a:r>
            <a:r>
              <a:rPr dirty="0"/>
              <a:t> </a:t>
            </a:r>
            <a:r>
              <a:rPr dirty="0" err="1"/>
              <a:t>임계값</a:t>
            </a:r>
            <a:r>
              <a:rPr dirty="0"/>
              <a:t> </a:t>
            </a:r>
            <a:r>
              <a:rPr dirty="0" err="1"/>
              <a:t>이상인</a:t>
            </a:r>
            <a:r>
              <a:rPr dirty="0"/>
              <a:t> </a:t>
            </a:r>
            <a:r>
              <a:rPr dirty="0" err="1"/>
              <a:t>링크를</a:t>
            </a:r>
            <a:r>
              <a:rPr dirty="0"/>
              <a:t> </a:t>
            </a:r>
            <a:r>
              <a:rPr dirty="0" err="1"/>
              <a:t>네트워크에서</a:t>
            </a:r>
            <a:r>
              <a:rPr dirty="0"/>
              <a:t> </a:t>
            </a:r>
            <a:r>
              <a:rPr dirty="0" err="1"/>
              <a:t>완전히</a:t>
            </a:r>
            <a:r>
              <a:rPr dirty="0"/>
              <a:t> </a:t>
            </a:r>
            <a:r>
              <a:rPr dirty="0" err="1"/>
              <a:t>제거한</a:t>
            </a:r>
            <a:r>
              <a:rPr dirty="0"/>
              <a:t> </a:t>
            </a:r>
            <a:r>
              <a:rPr dirty="0" err="1"/>
              <a:t>뒤</a:t>
            </a:r>
            <a:r>
              <a:rPr dirty="0"/>
              <a:t>,</a:t>
            </a:r>
          </a:p>
          <a:p>
            <a:r>
              <a:rPr dirty="0" err="1"/>
              <a:t>남은</a:t>
            </a:r>
            <a:r>
              <a:rPr dirty="0"/>
              <a:t> </a:t>
            </a:r>
            <a:r>
              <a:rPr dirty="0" err="1"/>
              <a:t>네트워크로만</a:t>
            </a:r>
            <a:r>
              <a:rPr dirty="0"/>
              <a:t> 15분 </a:t>
            </a:r>
            <a:r>
              <a:rPr dirty="0" err="1"/>
              <a:t>내</a:t>
            </a:r>
            <a:r>
              <a:rPr dirty="0"/>
              <a:t> </a:t>
            </a:r>
            <a:r>
              <a:rPr dirty="0" err="1"/>
              <a:t>도달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정류장을</a:t>
            </a:r>
            <a:r>
              <a:rPr dirty="0"/>
              <a:t> </a:t>
            </a:r>
            <a:r>
              <a:rPr dirty="0" err="1"/>
              <a:t>세는</a:t>
            </a:r>
            <a:r>
              <a:rPr dirty="0"/>
              <a:t> </a:t>
            </a:r>
            <a:r>
              <a:rPr dirty="0" err="1"/>
              <a:t>방식입니다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이때</a:t>
            </a:r>
            <a:r>
              <a:rPr dirty="0"/>
              <a:t> "</a:t>
            </a:r>
            <a:r>
              <a:rPr dirty="0" err="1"/>
              <a:t>제거"하는</a:t>
            </a:r>
            <a:r>
              <a:rPr dirty="0"/>
              <a:t> </a:t>
            </a:r>
            <a:r>
              <a:rPr dirty="0" err="1"/>
              <a:t>방식</a:t>
            </a:r>
            <a:r>
              <a:rPr dirty="0"/>
              <a:t>, </a:t>
            </a:r>
            <a:r>
              <a:rPr dirty="0" err="1"/>
              <a:t>즉</a:t>
            </a:r>
            <a:r>
              <a:rPr dirty="0"/>
              <a:t> Hard </a:t>
            </a:r>
            <a:r>
              <a:rPr dirty="0" err="1"/>
              <a:t>Cut은</a:t>
            </a:r>
            <a:r>
              <a:rPr dirty="0"/>
              <a:t> </a:t>
            </a:r>
            <a:r>
              <a:rPr dirty="0" err="1"/>
              <a:t>보행자가</a:t>
            </a:r>
            <a:r>
              <a:rPr dirty="0"/>
              <a:t> </a:t>
            </a:r>
            <a:r>
              <a:rPr dirty="0" err="1"/>
              <a:t>뜨거운</a:t>
            </a:r>
            <a:r>
              <a:rPr dirty="0"/>
              <a:t> </a:t>
            </a:r>
            <a:r>
              <a:rPr dirty="0" err="1"/>
              <a:t>길을</a:t>
            </a:r>
            <a:r>
              <a:rPr dirty="0"/>
              <a:t> </a:t>
            </a:r>
            <a:r>
              <a:rPr dirty="0" err="1"/>
              <a:t>완전히</a:t>
            </a:r>
            <a:r>
              <a:rPr dirty="0"/>
              <a:t> </a:t>
            </a:r>
            <a:r>
              <a:rPr dirty="0" err="1"/>
              <a:t>피해</a:t>
            </a:r>
            <a:r>
              <a:rPr dirty="0"/>
              <a:t> </a:t>
            </a:r>
            <a:r>
              <a:rPr dirty="0" err="1"/>
              <a:t>돌아간다는</a:t>
            </a:r>
            <a:r>
              <a:rPr dirty="0"/>
              <a:t> </a:t>
            </a:r>
            <a:r>
              <a:rPr dirty="0" err="1"/>
              <a:t>가정입니다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값의</a:t>
            </a:r>
            <a:r>
              <a:rPr dirty="0"/>
              <a:t> </a:t>
            </a:r>
            <a:r>
              <a:rPr dirty="0" err="1"/>
              <a:t>차이를</a:t>
            </a:r>
            <a:r>
              <a:rPr dirty="0"/>
              <a:t>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값으로</a:t>
            </a:r>
            <a:r>
              <a:rPr dirty="0"/>
              <a:t> </a:t>
            </a:r>
            <a:r>
              <a:rPr dirty="0" err="1"/>
              <a:t>나누어</a:t>
            </a:r>
            <a:r>
              <a:rPr dirty="0"/>
              <a:t> </a:t>
            </a:r>
            <a:r>
              <a:rPr dirty="0" err="1"/>
              <a:t>퍼센트로</a:t>
            </a:r>
            <a:r>
              <a:rPr dirty="0"/>
              <a:t> </a:t>
            </a:r>
            <a:r>
              <a:rPr dirty="0" err="1"/>
              <a:t>표현한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TARR입니다</a:t>
            </a:r>
            <a:r>
              <a:rPr dirty="0"/>
              <a:t>.</a:t>
            </a:r>
          </a:p>
          <a:p>
            <a:r>
              <a:rPr dirty="0" err="1"/>
              <a:t>TARR이</a:t>
            </a:r>
            <a:r>
              <a:rPr dirty="0"/>
              <a:t> </a:t>
            </a:r>
            <a:r>
              <a:rPr dirty="0" err="1"/>
              <a:t>클수록</a:t>
            </a:r>
            <a:r>
              <a:rPr dirty="0"/>
              <a:t> </a:t>
            </a:r>
            <a:r>
              <a:rPr dirty="0" err="1"/>
              <a:t>폭염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접근성</a:t>
            </a:r>
            <a:r>
              <a:rPr dirty="0"/>
              <a:t> </a:t>
            </a:r>
            <a:r>
              <a:rPr dirty="0" err="1"/>
              <a:t>손실이</a:t>
            </a:r>
            <a:r>
              <a:rPr dirty="0"/>
              <a:t> </a:t>
            </a:r>
            <a:r>
              <a:rPr dirty="0" err="1"/>
              <a:t>크다는</a:t>
            </a:r>
            <a:r>
              <a:rPr dirty="0"/>
              <a:t> </a:t>
            </a:r>
            <a:r>
              <a:rPr dirty="0" err="1"/>
              <a:t>의미로</a:t>
            </a:r>
            <a:r>
              <a:rPr dirty="0"/>
              <a:t>,</a:t>
            </a:r>
          </a:p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값이</a:t>
            </a:r>
            <a:r>
              <a:rPr dirty="0"/>
              <a:t> </a:t>
            </a:r>
            <a:r>
              <a:rPr dirty="0" err="1"/>
              <a:t>높은</a:t>
            </a:r>
            <a:r>
              <a:rPr dirty="0"/>
              <a:t> </a:t>
            </a:r>
            <a:r>
              <a:rPr dirty="0" err="1"/>
              <a:t>집계구가</a:t>
            </a:r>
            <a:r>
              <a:rPr dirty="0"/>
              <a:t> </a:t>
            </a:r>
            <a:r>
              <a:rPr dirty="0" err="1"/>
              <a:t>바로</a:t>
            </a:r>
            <a:r>
              <a:rPr dirty="0"/>
              <a:t> </a:t>
            </a:r>
            <a:r>
              <a:rPr dirty="0" err="1"/>
              <a:t>폭염</a:t>
            </a:r>
            <a:r>
              <a:rPr dirty="0"/>
              <a:t> </a:t>
            </a:r>
            <a:r>
              <a:rPr dirty="0" err="1"/>
              <a:t>취약</a:t>
            </a:r>
            <a:r>
              <a:rPr dirty="0"/>
              <a:t> </a:t>
            </a:r>
            <a:r>
              <a:rPr dirty="0" err="1"/>
              <a:t>지역입니다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세</a:t>
            </a:r>
            <a:r>
              <a:rPr dirty="0"/>
              <a:t> </a:t>
            </a:r>
            <a:r>
              <a:rPr dirty="0" err="1"/>
              <a:t>번째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Monte </a:t>
            </a:r>
            <a:r>
              <a:rPr dirty="0" err="1"/>
              <a:t>Carlo를</a:t>
            </a:r>
            <a:r>
              <a:rPr dirty="0"/>
              <a:t> </a:t>
            </a:r>
            <a:r>
              <a:rPr dirty="0" err="1"/>
              <a:t>이용한</a:t>
            </a:r>
            <a:r>
              <a:rPr dirty="0"/>
              <a:t> </a:t>
            </a:r>
            <a:r>
              <a:rPr dirty="0" err="1"/>
              <a:t>임계값</a:t>
            </a:r>
            <a:r>
              <a:rPr dirty="0"/>
              <a:t> </a:t>
            </a:r>
            <a:r>
              <a:rPr dirty="0" err="1"/>
              <a:t>불확실성</a:t>
            </a:r>
            <a:r>
              <a:rPr dirty="0"/>
              <a:t> </a:t>
            </a:r>
            <a:r>
              <a:rPr dirty="0" err="1"/>
              <a:t>분석입니다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55°C라는 </a:t>
            </a:r>
            <a:r>
              <a:rPr dirty="0" err="1"/>
              <a:t>임계값은</a:t>
            </a:r>
            <a:r>
              <a:rPr dirty="0"/>
              <a:t> UTCI 38°C </a:t>
            </a:r>
            <a:r>
              <a:rPr dirty="0" err="1"/>
              <a:t>역산</a:t>
            </a:r>
            <a:r>
              <a:rPr dirty="0"/>
              <a:t> </a:t>
            </a:r>
            <a:r>
              <a:rPr dirty="0" err="1"/>
              <a:t>등으로</a:t>
            </a:r>
            <a:r>
              <a:rPr dirty="0"/>
              <a:t> </a:t>
            </a:r>
            <a:r>
              <a:rPr dirty="0" err="1"/>
              <a:t>설정했지만</a:t>
            </a:r>
            <a:r>
              <a:rPr dirty="0"/>
              <a:t>,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값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확실한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 </a:t>
            </a:r>
            <a:r>
              <a:rPr dirty="0" err="1"/>
              <a:t>아닙니다</a:t>
            </a:r>
            <a:r>
              <a:rPr dirty="0"/>
              <a:t>.</a:t>
            </a:r>
          </a:p>
          <a:p>
            <a:r>
              <a:rPr dirty="0" err="1"/>
              <a:t>기상</a:t>
            </a:r>
            <a:r>
              <a:rPr dirty="0"/>
              <a:t> </a:t>
            </a:r>
            <a:r>
              <a:rPr dirty="0" err="1"/>
              <a:t>조건이</a:t>
            </a:r>
            <a:r>
              <a:rPr dirty="0"/>
              <a:t> </a:t>
            </a:r>
            <a:r>
              <a:rPr dirty="0" err="1"/>
              <a:t>조금만</a:t>
            </a:r>
            <a:r>
              <a:rPr dirty="0"/>
              <a:t> </a:t>
            </a:r>
            <a:r>
              <a:rPr dirty="0" err="1"/>
              <a:t>달라져도</a:t>
            </a:r>
            <a:r>
              <a:rPr dirty="0"/>
              <a:t> "</a:t>
            </a:r>
            <a:r>
              <a:rPr dirty="0" err="1"/>
              <a:t>위험</a:t>
            </a:r>
            <a:r>
              <a:rPr dirty="0"/>
              <a:t> </a:t>
            </a:r>
            <a:r>
              <a:rPr dirty="0" err="1"/>
              <a:t>MRT"는</a:t>
            </a:r>
            <a:r>
              <a:rPr dirty="0"/>
              <a:t> </a:t>
            </a:r>
            <a:r>
              <a:rPr dirty="0" err="1"/>
              <a:t>변합니다</a:t>
            </a:r>
            <a:r>
              <a:rPr dirty="0"/>
              <a:t>.</a:t>
            </a:r>
          </a:p>
          <a:p>
            <a:r>
              <a:rPr dirty="0" err="1"/>
              <a:t>그래서</a:t>
            </a:r>
            <a:r>
              <a:rPr dirty="0"/>
              <a:t> </a:t>
            </a:r>
            <a:r>
              <a:rPr dirty="0" err="1"/>
              <a:t>임계값을</a:t>
            </a:r>
            <a:r>
              <a:rPr dirty="0"/>
              <a:t> </a:t>
            </a:r>
            <a:r>
              <a:rPr dirty="0" err="1"/>
              <a:t>평균</a:t>
            </a:r>
            <a:r>
              <a:rPr dirty="0"/>
              <a:t> 55°C, </a:t>
            </a:r>
            <a:r>
              <a:rPr dirty="0" err="1"/>
              <a:t>표준편차</a:t>
            </a:r>
            <a:r>
              <a:rPr dirty="0"/>
              <a:t> 4°C인 </a:t>
            </a:r>
            <a:r>
              <a:rPr dirty="0" err="1"/>
              <a:t>정규분포에서</a:t>
            </a:r>
            <a:r>
              <a:rPr dirty="0"/>
              <a:t> 2천 </a:t>
            </a:r>
            <a:r>
              <a:rPr dirty="0" err="1"/>
              <a:t>개</a:t>
            </a:r>
            <a:r>
              <a:rPr dirty="0"/>
              <a:t> </a:t>
            </a:r>
            <a:r>
              <a:rPr dirty="0" err="1"/>
              <a:t>샘플링해서</a:t>
            </a:r>
            <a:r>
              <a:rPr dirty="0"/>
              <a:t>,</a:t>
            </a:r>
          </a:p>
          <a:p>
            <a:r>
              <a:rPr dirty="0" err="1"/>
              <a:t>각</a:t>
            </a:r>
            <a:r>
              <a:rPr dirty="0"/>
              <a:t> </a:t>
            </a:r>
            <a:r>
              <a:rPr dirty="0" err="1"/>
              <a:t>샘플마다</a:t>
            </a:r>
            <a:r>
              <a:rPr dirty="0"/>
              <a:t> </a:t>
            </a:r>
            <a:r>
              <a:rPr dirty="0" err="1"/>
              <a:t>TARR을</a:t>
            </a:r>
            <a:r>
              <a:rPr dirty="0"/>
              <a:t> </a:t>
            </a:r>
            <a:r>
              <a:rPr dirty="0" err="1"/>
              <a:t>계산하는</a:t>
            </a:r>
            <a:r>
              <a:rPr dirty="0"/>
              <a:t> </a:t>
            </a:r>
            <a:r>
              <a:rPr dirty="0" err="1"/>
              <a:t>방식입니다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구체적으로는</a:t>
            </a:r>
            <a:r>
              <a:rPr dirty="0"/>
              <a:t> 9개 </a:t>
            </a:r>
            <a:r>
              <a:rPr dirty="0" err="1"/>
              <a:t>임계값</a:t>
            </a:r>
            <a:r>
              <a:rPr dirty="0"/>
              <a:t> </a:t>
            </a:r>
            <a:r>
              <a:rPr dirty="0" err="1"/>
              <a:t>지점에서</a:t>
            </a:r>
            <a:r>
              <a:rPr dirty="0"/>
              <a:t> </a:t>
            </a:r>
            <a:r>
              <a:rPr dirty="0" err="1"/>
              <a:t>TARR을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계산해두고</a:t>
            </a:r>
            <a:r>
              <a:rPr dirty="0"/>
              <a:t>,</a:t>
            </a:r>
          </a:p>
          <a:p>
            <a:r>
              <a:rPr dirty="0" err="1"/>
              <a:t>샘플링한</a:t>
            </a:r>
            <a:r>
              <a:rPr dirty="0"/>
              <a:t> </a:t>
            </a:r>
            <a:r>
              <a:rPr dirty="0" err="1"/>
              <a:t>임계값에</a:t>
            </a:r>
            <a:r>
              <a:rPr dirty="0"/>
              <a:t> </a:t>
            </a:r>
            <a:r>
              <a:rPr dirty="0" err="1"/>
              <a:t>대해</a:t>
            </a:r>
            <a:r>
              <a:rPr dirty="0"/>
              <a:t> </a:t>
            </a:r>
            <a:r>
              <a:rPr dirty="0" err="1"/>
              <a:t>선형</a:t>
            </a:r>
            <a:r>
              <a:rPr dirty="0"/>
              <a:t> </a:t>
            </a:r>
            <a:r>
              <a:rPr dirty="0" err="1"/>
              <a:t>보간으로</a:t>
            </a:r>
            <a:r>
              <a:rPr dirty="0"/>
              <a:t> </a:t>
            </a:r>
            <a:r>
              <a:rPr dirty="0" err="1"/>
              <a:t>TARR을</a:t>
            </a:r>
            <a:r>
              <a:rPr dirty="0"/>
              <a:t> </a:t>
            </a:r>
            <a:r>
              <a:rPr dirty="0" err="1"/>
              <a:t>추정합니다</a:t>
            </a:r>
            <a:r>
              <a:rPr dirty="0"/>
              <a:t>.</a:t>
            </a:r>
          </a:p>
          <a:p>
            <a:r>
              <a:rPr dirty="0" err="1"/>
              <a:t>이렇게</a:t>
            </a:r>
            <a:r>
              <a:rPr dirty="0"/>
              <a:t> </a:t>
            </a:r>
            <a:r>
              <a:rPr dirty="0" err="1"/>
              <a:t>하면</a:t>
            </a:r>
            <a:r>
              <a:rPr dirty="0"/>
              <a:t> </a:t>
            </a:r>
            <a:r>
              <a:rPr dirty="0" err="1"/>
              <a:t>집계구마다</a:t>
            </a:r>
            <a:r>
              <a:rPr dirty="0"/>
              <a:t> 2천 </a:t>
            </a:r>
            <a:r>
              <a:rPr dirty="0" err="1"/>
              <a:t>개의</a:t>
            </a:r>
            <a:r>
              <a:rPr dirty="0"/>
              <a:t> TARR </a:t>
            </a:r>
            <a:r>
              <a:rPr dirty="0" err="1"/>
              <a:t>값이</a:t>
            </a:r>
            <a:r>
              <a:rPr dirty="0"/>
              <a:t> </a:t>
            </a:r>
            <a:r>
              <a:rPr dirty="0" err="1"/>
              <a:t>생기고</a:t>
            </a:r>
            <a:r>
              <a:rPr dirty="0"/>
              <a:t>,</a:t>
            </a:r>
          </a:p>
          <a:p>
            <a:r>
              <a:rPr dirty="0" err="1"/>
              <a:t>그</a:t>
            </a:r>
            <a:r>
              <a:rPr dirty="0"/>
              <a:t> </a:t>
            </a:r>
            <a:r>
              <a:rPr dirty="0" err="1"/>
              <a:t>분포의</a:t>
            </a:r>
            <a:r>
              <a:rPr dirty="0"/>
              <a:t> </a:t>
            </a:r>
            <a:r>
              <a:rPr dirty="0" err="1"/>
              <a:t>중앙값과</a:t>
            </a:r>
            <a:r>
              <a:rPr dirty="0"/>
              <a:t> 95% </a:t>
            </a:r>
            <a:r>
              <a:rPr dirty="0" err="1"/>
              <a:t>신뢰구간을</a:t>
            </a:r>
            <a:r>
              <a:rPr dirty="0"/>
              <a:t> </a:t>
            </a:r>
            <a:r>
              <a:rPr dirty="0" err="1"/>
              <a:t>결과로</a:t>
            </a:r>
            <a:r>
              <a:rPr dirty="0"/>
              <a:t> </a:t>
            </a:r>
            <a:r>
              <a:rPr dirty="0" err="1"/>
              <a:t>제시합니다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이것이</a:t>
            </a:r>
            <a:r>
              <a:rPr dirty="0"/>
              <a:t> </a:t>
            </a:r>
            <a:r>
              <a:rPr dirty="0" err="1"/>
              <a:t>이번</a:t>
            </a:r>
            <a:r>
              <a:rPr dirty="0"/>
              <a:t> </a:t>
            </a:r>
            <a:r>
              <a:rPr dirty="0" err="1"/>
              <a:t>연구에서</a:t>
            </a:r>
            <a:r>
              <a:rPr dirty="0"/>
              <a:t> </a:t>
            </a:r>
            <a:r>
              <a:rPr dirty="0" err="1"/>
              <a:t>발견한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결과입니다</a:t>
            </a:r>
            <a:r>
              <a:rPr dirty="0"/>
              <a:t>: S-</a:t>
            </a:r>
            <a:r>
              <a:rPr dirty="0" err="1"/>
              <a:t>curve입니다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S자</a:t>
            </a:r>
            <a:r>
              <a:rPr dirty="0"/>
              <a:t> </a:t>
            </a:r>
            <a:r>
              <a:rPr dirty="0" err="1"/>
              <a:t>형태의</a:t>
            </a:r>
            <a:r>
              <a:rPr dirty="0"/>
              <a:t> </a:t>
            </a:r>
            <a:r>
              <a:rPr dirty="0" err="1"/>
              <a:t>반응</a:t>
            </a:r>
            <a:r>
              <a:rPr dirty="0"/>
              <a:t> </a:t>
            </a:r>
            <a:r>
              <a:rPr dirty="0" err="1"/>
              <a:t>곡선을</a:t>
            </a:r>
            <a:r>
              <a:rPr dirty="0"/>
              <a:t> </a:t>
            </a:r>
            <a:r>
              <a:rPr dirty="0" err="1"/>
              <a:t>보면</a:t>
            </a:r>
            <a:r>
              <a:rPr dirty="0"/>
              <a:t>,</a:t>
            </a:r>
          </a:p>
          <a:p>
            <a:r>
              <a:rPr dirty="0"/>
              <a:t>45°C에서는 </a:t>
            </a:r>
            <a:r>
              <a:rPr dirty="0" err="1"/>
              <a:t>TARR이</a:t>
            </a:r>
            <a:r>
              <a:rPr dirty="0"/>
              <a:t> 95%로 </a:t>
            </a:r>
            <a:r>
              <a:rPr dirty="0" err="1"/>
              <a:t>거의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정류장에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불가</a:t>
            </a:r>
            <a:r>
              <a:rPr dirty="0"/>
              <a:t>,</a:t>
            </a:r>
          </a:p>
          <a:p>
            <a:r>
              <a:rPr dirty="0"/>
              <a:t>65°C에서는 5%로 </a:t>
            </a:r>
            <a:r>
              <a:rPr dirty="0" err="1"/>
              <a:t>거의</a:t>
            </a:r>
            <a:r>
              <a:rPr dirty="0"/>
              <a:t> </a:t>
            </a:r>
            <a:r>
              <a:rPr dirty="0" err="1"/>
              <a:t>제약</a:t>
            </a:r>
            <a:r>
              <a:rPr dirty="0"/>
              <a:t> </a:t>
            </a:r>
            <a:r>
              <a:rPr dirty="0" err="1"/>
              <a:t>없음인데</a:t>
            </a:r>
            <a:r>
              <a:rPr dirty="0"/>
              <a:t>,</a:t>
            </a:r>
          </a:p>
          <a:p>
            <a:r>
              <a:rPr dirty="0" err="1"/>
              <a:t>그</a:t>
            </a:r>
            <a:r>
              <a:rPr dirty="0"/>
              <a:t> </a:t>
            </a:r>
            <a:r>
              <a:rPr dirty="0" err="1"/>
              <a:t>중간인</a:t>
            </a:r>
            <a:r>
              <a:rPr dirty="0"/>
              <a:t> 53~57°C </a:t>
            </a:r>
            <a:r>
              <a:rPr dirty="0" err="1"/>
              <a:t>구간에서</a:t>
            </a:r>
            <a:r>
              <a:rPr dirty="0"/>
              <a:t> </a:t>
            </a:r>
            <a:r>
              <a:rPr dirty="0" err="1"/>
              <a:t>TARR이</a:t>
            </a:r>
            <a:r>
              <a:rPr dirty="0"/>
              <a:t> 88%에서 39%로 </a:t>
            </a:r>
            <a:r>
              <a:rPr dirty="0" err="1"/>
              <a:t>급격히</a:t>
            </a:r>
            <a:r>
              <a:rPr dirty="0"/>
              <a:t> </a:t>
            </a:r>
            <a:r>
              <a:rPr dirty="0" err="1"/>
              <a:t>떨어집니다</a:t>
            </a:r>
            <a:r>
              <a:rPr dirty="0"/>
              <a:t>.</a:t>
            </a:r>
          </a:p>
          <a:p>
            <a:r>
              <a:rPr dirty="0"/>
              <a:t>2°C </a:t>
            </a:r>
            <a:r>
              <a:rPr dirty="0" err="1"/>
              <a:t>차이에</a:t>
            </a:r>
            <a:r>
              <a:rPr dirty="0"/>
              <a:t> 49%p </a:t>
            </a:r>
            <a:r>
              <a:rPr dirty="0" err="1"/>
              <a:t>변동이</a:t>
            </a:r>
            <a:r>
              <a:rPr dirty="0"/>
              <a:t> </a:t>
            </a:r>
            <a:r>
              <a:rPr dirty="0" err="1"/>
              <a:t>일어나는</a:t>
            </a:r>
            <a:r>
              <a:rPr dirty="0"/>
              <a:t> </a:t>
            </a:r>
            <a:r>
              <a:rPr dirty="0" err="1"/>
              <a:t>것입니다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이것이</a:t>
            </a:r>
            <a:r>
              <a:rPr dirty="0"/>
              <a:t> S-</a:t>
            </a:r>
            <a:r>
              <a:rPr dirty="0" err="1"/>
              <a:t>curve의</a:t>
            </a:r>
            <a:r>
              <a:rPr dirty="0"/>
              <a:t> </a:t>
            </a:r>
            <a:r>
              <a:rPr dirty="0" err="1"/>
              <a:t>변곡점이고</a:t>
            </a:r>
            <a:r>
              <a:rPr dirty="0"/>
              <a:t>, 55°C는 </a:t>
            </a:r>
            <a:r>
              <a:rPr dirty="0" err="1"/>
              <a:t>그</a:t>
            </a:r>
            <a:r>
              <a:rPr dirty="0"/>
              <a:t> </a:t>
            </a:r>
            <a:r>
              <a:rPr dirty="0" err="1"/>
              <a:t>중심값입니다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Monte </a:t>
            </a:r>
            <a:r>
              <a:rPr dirty="0" err="1"/>
              <a:t>Carlo에서</a:t>
            </a:r>
            <a:r>
              <a:rPr dirty="0"/>
              <a:t> CI </a:t>
            </a:r>
            <a:r>
              <a:rPr dirty="0" err="1"/>
              <a:t>폭이</a:t>
            </a:r>
            <a:r>
              <a:rPr dirty="0"/>
              <a:t> </a:t>
            </a:r>
            <a:r>
              <a:rPr dirty="0" err="1"/>
              <a:t>넓게</a:t>
            </a:r>
            <a:r>
              <a:rPr dirty="0"/>
              <a:t> </a:t>
            </a:r>
            <a:r>
              <a:rPr dirty="0" err="1"/>
              <a:t>나온</a:t>
            </a:r>
            <a:r>
              <a:rPr dirty="0"/>
              <a:t> </a:t>
            </a:r>
            <a:r>
              <a:rPr dirty="0" err="1"/>
              <a:t>것도</a:t>
            </a:r>
            <a:r>
              <a:rPr dirty="0"/>
              <a:t> </a:t>
            </a:r>
            <a:r>
              <a:rPr dirty="0" err="1"/>
              <a:t>바로</a:t>
            </a:r>
            <a:r>
              <a:rPr dirty="0"/>
              <a:t>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때문입니다</a:t>
            </a:r>
            <a:r>
              <a:rPr dirty="0"/>
              <a:t>.</a:t>
            </a:r>
          </a:p>
          <a:p>
            <a:r>
              <a:rPr dirty="0" err="1"/>
              <a:t>CI가</a:t>
            </a:r>
            <a:r>
              <a:rPr dirty="0"/>
              <a:t> </a:t>
            </a:r>
            <a:r>
              <a:rPr dirty="0" err="1"/>
              <a:t>넓다는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 </a:t>
            </a:r>
            <a:r>
              <a:rPr dirty="0" err="1"/>
              <a:t>결과가</a:t>
            </a:r>
            <a:r>
              <a:rPr dirty="0"/>
              <a:t> </a:t>
            </a:r>
            <a:r>
              <a:rPr dirty="0" err="1"/>
              <a:t>불안정하다는</a:t>
            </a:r>
            <a:r>
              <a:rPr dirty="0"/>
              <a:t> </a:t>
            </a:r>
            <a:r>
              <a:rPr dirty="0" err="1"/>
              <a:t>의미가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,</a:t>
            </a:r>
          </a:p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민감</a:t>
            </a:r>
            <a:r>
              <a:rPr dirty="0"/>
              <a:t> </a:t>
            </a:r>
            <a:r>
              <a:rPr dirty="0" err="1"/>
              <a:t>구간이</a:t>
            </a:r>
            <a:r>
              <a:rPr dirty="0"/>
              <a:t> </a:t>
            </a:r>
            <a:r>
              <a:rPr dirty="0" err="1"/>
              <a:t>존재한다는</a:t>
            </a:r>
            <a:r>
              <a:rPr dirty="0"/>
              <a:t> </a:t>
            </a:r>
            <a:r>
              <a:rPr dirty="0" err="1"/>
              <a:t>것</a:t>
            </a:r>
            <a:r>
              <a:rPr dirty="0"/>
              <a:t>, </a:t>
            </a:r>
            <a:r>
              <a:rPr dirty="0" err="1"/>
              <a:t>즉</a:t>
            </a:r>
            <a:r>
              <a:rPr dirty="0"/>
              <a:t> 55°C </a:t>
            </a:r>
            <a:r>
              <a:rPr dirty="0" err="1"/>
              <a:t>주변에서</a:t>
            </a:r>
            <a:r>
              <a:rPr dirty="0"/>
              <a:t> </a:t>
            </a:r>
            <a:r>
              <a:rPr dirty="0" err="1"/>
              <a:t>임계값</a:t>
            </a:r>
            <a:r>
              <a:rPr dirty="0"/>
              <a:t> </a:t>
            </a:r>
            <a:r>
              <a:rPr dirty="0" err="1"/>
              <a:t>선택이</a:t>
            </a:r>
            <a:r>
              <a:rPr dirty="0"/>
              <a:t> </a:t>
            </a:r>
            <a:r>
              <a:rPr dirty="0" err="1"/>
              <a:t>결과에</a:t>
            </a:r>
            <a:r>
              <a:rPr dirty="0"/>
              <a:t> </a:t>
            </a:r>
            <a:r>
              <a:rPr dirty="0" err="1"/>
              <a:t>결정적</a:t>
            </a:r>
            <a:r>
              <a:rPr dirty="0"/>
              <a:t> </a:t>
            </a:r>
            <a:r>
              <a:rPr dirty="0" err="1"/>
              <a:t>영향을</a:t>
            </a:r>
            <a:r>
              <a:rPr dirty="0"/>
              <a:t> </a:t>
            </a:r>
            <a:r>
              <a:rPr dirty="0" err="1"/>
              <a:t>미친다는</a:t>
            </a:r>
            <a:r>
              <a:rPr dirty="0"/>
              <a:t> </a:t>
            </a:r>
            <a:r>
              <a:rPr dirty="0" err="1"/>
              <a:t>것을</a:t>
            </a:r>
            <a:r>
              <a:rPr dirty="0"/>
              <a:t> </a:t>
            </a:r>
            <a:r>
              <a:rPr dirty="0" err="1"/>
              <a:t>보여줍니다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지도는</a:t>
            </a:r>
            <a:r>
              <a:rPr dirty="0"/>
              <a:t> </a:t>
            </a:r>
            <a:r>
              <a:rPr dirty="0" err="1"/>
              <a:t>집계구별</a:t>
            </a:r>
            <a:r>
              <a:rPr dirty="0"/>
              <a:t> </a:t>
            </a:r>
            <a:r>
              <a:rPr dirty="0" err="1"/>
              <a:t>TARR의</a:t>
            </a:r>
            <a:r>
              <a:rPr dirty="0"/>
              <a:t> </a:t>
            </a:r>
            <a:r>
              <a:rPr dirty="0" err="1"/>
              <a:t>공간</a:t>
            </a:r>
            <a:r>
              <a:rPr dirty="0"/>
              <a:t> </a:t>
            </a:r>
            <a:r>
              <a:rPr dirty="0" err="1"/>
              <a:t>분포입니다</a:t>
            </a:r>
            <a:r>
              <a:rPr dirty="0"/>
              <a:t>.</a:t>
            </a:r>
          </a:p>
          <a:p>
            <a:r>
              <a:rPr dirty="0" err="1"/>
              <a:t>색이</a:t>
            </a:r>
            <a:r>
              <a:rPr dirty="0"/>
              <a:t> </a:t>
            </a:r>
            <a:r>
              <a:rPr dirty="0" err="1"/>
              <a:t>짙을수록</a:t>
            </a:r>
            <a:r>
              <a:rPr dirty="0"/>
              <a:t> </a:t>
            </a:r>
            <a:r>
              <a:rPr dirty="0" err="1"/>
              <a:t>폭염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접근성</a:t>
            </a:r>
            <a:r>
              <a:rPr dirty="0"/>
              <a:t> </a:t>
            </a:r>
            <a:r>
              <a:rPr dirty="0" err="1"/>
              <a:t>손실이</a:t>
            </a:r>
            <a:r>
              <a:rPr dirty="0"/>
              <a:t> </a:t>
            </a:r>
            <a:r>
              <a:rPr dirty="0" err="1"/>
              <a:t>크다는</a:t>
            </a:r>
            <a:r>
              <a:rPr dirty="0"/>
              <a:t> </a:t>
            </a:r>
            <a:r>
              <a:rPr dirty="0" err="1"/>
              <a:t>의미입니다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성동구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TARR은</a:t>
            </a:r>
            <a:r>
              <a:rPr dirty="0"/>
              <a:t> 73.3%로,</a:t>
            </a:r>
          </a:p>
          <a:p>
            <a:r>
              <a:rPr dirty="0" err="1"/>
              <a:t>폭염</a:t>
            </a:r>
            <a:r>
              <a:rPr dirty="0"/>
              <a:t> </a:t>
            </a:r>
            <a:r>
              <a:rPr dirty="0" err="1"/>
              <a:t>피크</a:t>
            </a:r>
            <a:r>
              <a:rPr dirty="0"/>
              <a:t> </a:t>
            </a:r>
            <a:r>
              <a:rPr dirty="0" err="1"/>
              <a:t>시간인</a:t>
            </a:r>
            <a:r>
              <a:rPr dirty="0"/>
              <a:t> 13시에 </a:t>
            </a:r>
            <a:r>
              <a:rPr dirty="0" err="1"/>
              <a:t>평균적으로</a:t>
            </a:r>
            <a:r>
              <a:rPr dirty="0"/>
              <a:t> 73%의 </a:t>
            </a:r>
            <a:r>
              <a:rPr dirty="0" err="1"/>
              <a:t>정류장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기회가</a:t>
            </a:r>
            <a:r>
              <a:rPr dirty="0"/>
              <a:t> </a:t>
            </a:r>
            <a:r>
              <a:rPr dirty="0" err="1"/>
              <a:t>사라집니다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공간</a:t>
            </a:r>
            <a:r>
              <a:rPr dirty="0"/>
              <a:t> </a:t>
            </a:r>
            <a:r>
              <a:rPr dirty="0" err="1"/>
              <a:t>패턴을</a:t>
            </a:r>
            <a:r>
              <a:rPr dirty="0"/>
              <a:t> </a:t>
            </a:r>
            <a:r>
              <a:rPr dirty="0" err="1"/>
              <a:t>보면</a:t>
            </a:r>
            <a:r>
              <a:rPr dirty="0"/>
              <a:t>,</a:t>
            </a:r>
          </a:p>
          <a:p>
            <a:r>
              <a:rPr dirty="0" err="1"/>
              <a:t>한강변이나</a:t>
            </a:r>
            <a:r>
              <a:rPr dirty="0"/>
              <a:t> </a:t>
            </a:r>
            <a:r>
              <a:rPr dirty="0" err="1"/>
              <a:t>서울숲</a:t>
            </a:r>
            <a:r>
              <a:rPr dirty="0"/>
              <a:t> </a:t>
            </a:r>
            <a:r>
              <a:rPr dirty="0" err="1"/>
              <a:t>주변</a:t>
            </a:r>
            <a:r>
              <a:rPr dirty="0"/>
              <a:t> </a:t>
            </a:r>
            <a:r>
              <a:rPr dirty="0" err="1"/>
              <a:t>개방된</a:t>
            </a:r>
            <a:r>
              <a:rPr dirty="0"/>
              <a:t> </a:t>
            </a:r>
            <a:r>
              <a:rPr dirty="0" err="1"/>
              <a:t>구간은</a:t>
            </a:r>
            <a:r>
              <a:rPr dirty="0"/>
              <a:t> </a:t>
            </a:r>
            <a:r>
              <a:rPr dirty="0" err="1"/>
              <a:t>TARR이</a:t>
            </a:r>
            <a:r>
              <a:rPr dirty="0"/>
              <a:t> </a:t>
            </a:r>
            <a:r>
              <a:rPr dirty="0" err="1"/>
              <a:t>높고</a:t>
            </a:r>
            <a:r>
              <a:rPr dirty="0"/>
              <a:t>,</a:t>
            </a:r>
          </a:p>
          <a:p>
            <a:r>
              <a:rPr dirty="0" err="1"/>
              <a:t>건물이</a:t>
            </a:r>
            <a:r>
              <a:rPr dirty="0"/>
              <a:t> </a:t>
            </a:r>
            <a:r>
              <a:rPr dirty="0" err="1"/>
              <a:t>밀집한</a:t>
            </a:r>
            <a:r>
              <a:rPr dirty="0"/>
              <a:t> </a:t>
            </a:r>
            <a:r>
              <a:rPr dirty="0" err="1"/>
              <a:t>구간은</a:t>
            </a:r>
            <a:r>
              <a:rPr dirty="0"/>
              <a:t> </a:t>
            </a:r>
            <a:r>
              <a:rPr dirty="0" err="1"/>
              <a:t>상대적으로</a:t>
            </a:r>
            <a:r>
              <a:rPr dirty="0"/>
              <a:t> </a:t>
            </a:r>
            <a:r>
              <a:rPr dirty="0" err="1"/>
              <a:t>낮습니다</a:t>
            </a:r>
            <a:r>
              <a:rPr dirty="0"/>
              <a:t>.</a:t>
            </a:r>
          </a:p>
          <a:p>
            <a:r>
              <a:rPr dirty="0" err="1"/>
              <a:t>이는</a:t>
            </a:r>
            <a:r>
              <a:rPr dirty="0"/>
              <a:t> </a:t>
            </a:r>
            <a:r>
              <a:rPr dirty="0" err="1"/>
              <a:t>개방된</a:t>
            </a:r>
            <a:r>
              <a:rPr dirty="0"/>
              <a:t> </a:t>
            </a:r>
            <a:r>
              <a:rPr dirty="0" err="1"/>
              <a:t>구간일수록</a:t>
            </a:r>
            <a:r>
              <a:rPr dirty="0"/>
              <a:t> </a:t>
            </a:r>
            <a:r>
              <a:rPr dirty="0" err="1"/>
              <a:t>MRT가</a:t>
            </a:r>
            <a:r>
              <a:rPr dirty="0"/>
              <a:t> </a:t>
            </a:r>
            <a:r>
              <a:rPr dirty="0" err="1"/>
              <a:t>높아</a:t>
            </a:r>
            <a:r>
              <a:rPr dirty="0"/>
              <a:t> </a:t>
            </a:r>
            <a:r>
              <a:rPr dirty="0" err="1"/>
              <a:t>더</a:t>
            </a:r>
            <a:r>
              <a:rPr dirty="0"/>
              <a:t> </a:t>
            </a:r>
            <a:r>
              <a:rPr dirty="0" err="1"/>
              <a:t>많은</a:t>
            </a:r>
            <a:r>
              <a:rPr dirty="0"/>
              <a:t> </a:t>
            </a:r>
            <a:r>
              <a:rPr dirty="0" err="1"/>
              <a:t>링크가</a:t>
            </a:r>
            <a:r>
              <a:rPr dirty="0"/>
              <a:t> </a:t>
            </a:r>
            <a:r>
              <a:rPr dirty="0" err="1"/>
              <a:t>차단되기</a:t>
            </a:r>
            <a:r>
              <a:rPr dirty="0"/>
              <a:t> </a:t>
            </a:r>
            <a:r>
              <a:rPr dirty="0" err="1"/>
              <a:t>때문입니다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또한</a:t>
            </a:r>
            <a:r>
              <a:rPr dirty="0"/>
              <a:t> </a:t>
            </a:r>
            <a:r>
              <a:rPr dirty="0" err="1"/>
              <a:t>지도에서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색의</a:t>
            </a:r>
            <a:r>
              <a:rPr dirty="0"/>
              <a:t> </a:t>
            </a:r>
            <a:r>
              <a:rPr dirty="0" err="1"/>
              <a:t>집계구들이</a:t>
            </a:r>
            <a:r>
              <a:rPr dirty="0"/>
              <a:t> </a:t>
            </a:r>
            <a:r>
              <a:rPr dirty="0" err="1"/>
              <a:t>공간적으로</a:t>
            </a:r>
            <a:r>
              <a:rPr dirty="0"/>
              <a:t> </a:t>
            </a:r>
            <a:r>
              <a:rPr dirty="0" err="1"/>
              <a:t>뭉쳐있는</a:t>
            </a:r>
            <a:r>
              <a:rPr dirty="0"/>
              <a:t> </a:t>
            </a:r>
            <a:r>
              <a:rPr dirty="0" err="1"/>
              <a:t>경향이</a:t>
            </a:r>
            <a:r>
              <a:rPr dirty="0"/>
              <a:t> </a:t>
            </a:r>
            <a:r>
              <a:rPr dirty="0" err="1"/>
              <a:t>보이는데</a:t>
            </a:r>
            <a:r>
              <a:rPr dirty="0"/>
              <a:t>,</a:t>
            </a:r>
          </a:p>
          <a:p>
            <a:r>
              <a:rPr dirty="0" err="1"/>
              <a:t>이는</a:t>
            </a:r>
            <a:r>
              <a:rPr dirty="0"/>
              <a:t> </a:t>
            </a:r>
            <a:r>
              <a:rPr dirty="0" err="1"/>
              <a:t>공간</a:t>
            </a:r>
            <a:r>
              <a:rPr dirty="0"/>
              <a:t> </a:t>
            </a:r>
            <a:r>
              <a:rPr dirty="0" err="1"/>
              <a:t>자기상관</a:t>
            </a:r>
            <a:r>
              <a:rPr dirty="0"/>
              <a:t>(spatial autocorrelation)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존재한다는</a:t>
            </a:r>
            <a:r>
              <a:rPr dirty="0"/>
              <a:t> </a:t>
            </a:r>
            <a:r>
              <a:rPr dirty="0" err="1"/>
              <a:t>것을</a:t>
            </a:r>
            <a:r>
              <a:rPr dirty="0"/>
              <a:t> </a:t>
            </a:r>
            <a:r>
              <a:rPr dirty="0" err="1"/>
              <a:t>시사합니다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Monte Carlo 결과입니다.</a:t>
            </a:r>
          </a:p>
          <a:p>
            <a:r>
              <a:t>왼쪽 히스토그램은 집계구별 TARR 중앙값의 분포를 보여줍니다.</a:t>
            </a:r>
          </a:p>
          <a:p>
            <a:r>
              <a:t>평균 70.2%로, 대부분의 집계구가 60~90% 구간에 몰려 있습니다.</a:t>
            </a:r>
          </a:p>
          <a:p>
            <a:endParaRPr/>
          </a:p>
          <a:p>
            <a:r>
              <a:t>오른쪽은 95% CI 폭의 분포입니다.</a:t>
            </a:r>
          </a:p>
          <a:p>
            <a:r>
              <a:t>평균 39%p로, 임계값을 정확히 모를 때 TARR 추정치가 약 40%p 정도 달라질 수 있음을 의미합니다.</a:t>
            </a:r>
          </a:p>
          <a:p>
            <a:endParaRPr/>
          </a:p>
          <a:p>
            <a:r>
              <a:t>여기서 CI 폭이 넓다고 해서 분석이 잘못된 것이 아닙니다.</a:t>
            </a:r>
          </a:p>
          <a:p>
            <a:r>
              <a:t>앞서 본 S-curve에서 53~57°C 구간에 2°C만 차이 나도 TARR이 50%p 가까이 변하는데,</a:t>
            </a:r>
          </a:p>
          <a:p>
            <a:r>
              <a:t>Monte Carlo 샘플이 바로 이 민감 구간을 통과하기 때문에 CI가 넓어진 것입니다.</a:t>
            </a:r>
          </a:p>
          <a:p>
            <a:r>
              <a:t>이 자체가 "55°C 주변에서 임계값 선택이 결정적으로 중요하다"는 발견입니다.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 그림은 Monte Carlo 결과를 공간적으로 표현한 것입니다.</a:t>
            </a:r>
          </a:p>
          <a:p>
            <a:r>
              <a:t>왼쪽은 TARR 중앙값, 오른쪽은 95% CI 폭입니다.</a:t>
            </a:r>
          </a:p>
          <a:p>
            <a:endParaRPr/>
          </a:p>
          <a:p>
            <a:r>
              <a:t>CI 폭이 넓은 집계구를 보면,</a:t>
            </a:r>
          </a:p>
          <a:p>
            <a:r>
              <a:t>임계값 변화에 특히 민감한 위치, 즉 S-curve 경사 구간에 위치한 링크 비율이 높은 곳입니다.</a:t>
            </a:r>
          </a:p>
          <a:p>
            <a:r>
              <a:t>반대로 CI 폭이 좁은 집계구는 어떤 임계값을 쓰더라도 결과가 비슷하게 나오는 곳입니다.</a:t>
            </a:r>
          </a:p>
          <a:p>
            <a:r>
              <a:t>이런 공간 패턴 자체도 정책적으로 의미가 있습니다.</a:t>
            </a:r>
          </a:p>
          <a:p>
            <a:r>
              <a:t>CI 폭이 넓은 집계구일수록 임계값 결정이 접근성 분석 결과에 크게 영향을 미치므로,</a:t>
            </a:r>
          </a:p>
          <a:p>
            <a:r>
              <a:t>더 정밀한 MRT 관측이 필요한 우선 지역으로 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그림은</a:t>
            </a:r>
            <a:r>
              <a:rPr dirty="0"/>
              <a:t> 9시, 13시, 18시 </a:t>
            </a:r>
            <a:r>
              <a:rPr dirty="0" err="1"/>
              <a:t>세</a:t>
            </a:r>
            <a:r>
              <a:rPr dirty="0"/>
              <a:t> </a:t>
            </a:r>
            <a:r>
              <a:rPr dirty="0" err="1"/>
              <a:t>시간대를</a:t>
            </a:r>
            <a:r>
              <a:rPr dirty="0"/>
              <a:t> </a:t>
            </a:r>
            <a:r>
              <a:rPr dirty="0" err="1"/>
              <a:t>비교한</a:t>
            </a:r>
            <a:r>
              <a:rPr dirty="0"/>
              <a:t> </a:t>
            </a:r>
            <a:r>
              <a:rPr dirty="0" err="1"/>
              <a:t>결과입니다</a:t>
            </a:r>
            <a:r>
              <a:rPr dirty="0"/>
              <a:t>.</a:t>
            </a:r>
          </a:p>
          <a:p>
            <a:r>
              <a:rPr dirty="0" err="1"/>
              <a:t>세</a:t>
            </a:r>
            <a:r>
              <a:rPr dirty="0"/>
              <a:t> </a:t>
            </a:r>
            <a:r>
              <a:rPr dirty="0" err="1"/>
              <a:t>패널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13시에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극단적인</a:t>
            </a:r>
            <a:r>
              <a:rPr dirty="0"/>
              <a:t>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보입니다</a:t>
            </a:r>
            <a:r>
              <a:rPr dirty="0"/>
              <a:t>.</a:t>
            </a:r>
          </a:p>
          <a:p>
            <a:r>
              <a:rPr dirty="0" err="1"/>
              <a:t>MRT가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높고</a:t>
            </a:r>
            <a:r>
              <a:rPr dirty="0"/>
              <a:t>, </a:t>
            </a:r>
            <a:r>
              <a:rPr dirty="0" err="1"/>
              <a:t>고온링크</a:t>
            </a:r>
            <a:r>
              <a:rPr dirty="0"/>
              <a:t> </a:t>
            </a:r>
            <a:r>
              <a:rPr dirty="0" err="1"/>
              <a:t>비율도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높으며</a:t>
            </a:r>
            <a:r>
              <a:rPr dirty="0"/>
              <a:t>, </a:t>
            </a:r>
            <a:r>
              <a:rPr dirty="0" err="1"/>
              <a:t>TARR도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큽니다</a:t>
            </a:r>
            <a:r>
              <a:rPr dirty="0"/>
              <a:t>.</a:t>
            </a:r>
          </a:p>
          <a:p>
            <a:r>
              <a:rPr dirty="0" err="1"/>
              <a:t>이것은</a:t>
            </a:r>
            <a:r>
              <a:rPr dirty="0"/>
              <a:t> </a:t>
            </a:r>
            <a:r>
              <a:rPr dirty="0" err="1"/>
              <a:t>태양</a:t>
            </a:r>
            <a:r>
              <a:rPr dirty="0"/>
              <a:t> </a:t>
            </a:r>
            <a:r>
              <a:rPr dirty="0" err="1"/>
              <a:t>복사가</a:t>
            </a:r>
            <a:r>
              <a:rPr dirty="0"/>
              <a:t> </a:t>
            </a:r>
            <a:r>
              <a:rPr dirty="0" err="1"/>
              <a:t>최대인</a:t>
            </a:r>
            <a:r>
              <a:rPr dirty="0"/>
              <a:t> 13시에 </a:t>
            </a:r>
            <a:r>
              <a:rPr dirty="0" err="1"/>
              <a:t>폭염으로</a:t>
            </a:r>
            <a:r>
              <a:rPr dirty="0"/>
              <a:t> </a:t>
            </a:r>
            <a:r>
              <a:rPr dirty="0" err="1"/>
              <a:t>인한</a:t>
            </a:r>
            <a:r>
              <a:rPr dirty="0"/>
              <a:t> </a:t>
            </a:r>
            <a:r>
              <a:rPr dirty="0" err="1"/>
              <a:t>보행</a:t>
            </a:r>
            <a:r>
              <a:rPr dirty="0"/>
              <a:t> </a:t>
            </a:r>
            <a:r>
              <a:rPr dirty="0" err="1"/>
              <a:t>접근성</a:t>
            </a:r>
            <a:r>
              <a:rPr dirty="0"/>
              <a:t> </a:t>
            </a:r>
            <a:r>
              <a:rPr dirty="0" err="1"/>
              <a:t>제약이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심각하다는</a:t>
            </a:r>
            <a:r>
              <a:rPr dirty="0"/>
              <a:t> </a:t>
            </a:r>
            <a:r>
              <a:rPr dirty="0" err="1"/>
              <a:t>것을</a:t>
            </a:r>
            <a:r>
              <a:rPr dirty="0"/>
              <a:t> </a:t>
            </a:r>
            <a:r>
              <a:rPr dirty="0" err="1"/>
              <a:t>보여줍니다</a:t>
            </a:r>
            <a:r>
              <a:rPr dirty="0"/>
              <a:t>.</a:t>
            </a:r>
          </a:p>
          <a:p>
            <a:r>
              <a:rPr dirty="0"/>
              <a:t>9시는 </a:t>
            </a:r>
            <a:r>
              <a:rPr dirty="0" err="1"/>
              <a:t>아직</a:t>
            </a:r>
            <a:r>
              <a:rPr dirty="0"/>
              <a:t> </a:t>
            </a:r>
            <a:r>
              <a:rPr dirty="0" err="1"/>
              <a:t>MRT가</a:t>
            </a:r>
            <a:r>
              <a:rPr dirty="0"/>
              <a:t> </a:t>
            </a:r>
            <a:r>
              <a:rPr dirty="0" err="1"/>
              <a:t>낮아서</a:t>
            </a:r>
            <a:r>
              <a:rPr dirty="0"/>
              <a:t> </a:t>
            </a:r>
            <a:r>
              <a:rPr dirty="0" err="1"/>
              <a:t>거의</a:t>
            </a:r>
            <a:r>
              <a:rPr dirty="0"/>
              <a:t> </a:t>
            </a:r>
            <a:r>
              <a:rPr dirty="0" err="1"/>
              <a:t>제약이</a:t>
            </a:r>
            <a:r>
              <a:rPr dirty="0"/>
              <a:t> </a:t>
            </a:r>
            <a:r>
              <a:rPr dirty="0" err="1"/>
              <a:t>없고</a:t>
            </a:r>
            <a:r>
              <a:rPr dirty="0"/>
              <a:t>,</a:t>
            </a:r>
          </a:p>
          <a:p>
            <a:r>
              <a:rPr dirty="0"/>
              <a:t>18시는 </a:t>
            </a:r>
            <a:r>
              <a:rPr dirty="0" err="1"/>
              <a:t>조금씩</a:t>
            </a:r>
            <a:r>
              <a:rPr dirty="0"/>
              <a:t> </a:t>
            </a:r>
            <a:r>
              <a:rPr dirty="0" err="1"/>
              <a:t>회복되는</a:t>
            </a:r>
            <a:r>
              <a:rPr dirty="0"/>
              <a:t> </a:t>
            </a:r>
            <a:r>
              <a:rPr dirty="0" err="1"/>
              <a:t>단계입니다</a:t>
            </a:r>
            <a:r>
              <a:rPr dirty="0"/>
              <a:t>.</a:t>
            </a:r>
          </a:p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비교는</a:t>
            </a:r>
            <a:r>
              <a:rPr dirty="0"/>
              <a:t> </a:t>
            </a:r>
            <a:r>
              <a:rPr dirty="0" err="1"/>
              <a:t>우리가</a:t>
            </a:r>
            <a:r>
              <a:rPr dirty="0"/>
              <a:t> 13시를 </a:t>
            </a:r>
            <a:r>
              <a:rPr dirty="0" err="1"/>
              <a:t>분석</a:t>
            </a:r>
            <a:r>
              <a:rPr dirty="0"/>
              <a:t> </a:t>
            </a:r>
            <a:r>
              <a:rPr dirty="0" err="1"/>
              <a:t>기준</a:t>
            </a:r>
            <a:r>
              <a:rPr dirty="0"/>
              <a:t> </a:t>
            </a:r>
            <a:r>
              <a:rPr dirty="0" err="1"/>
              <a:t>시간대로</a:t>
            </a:r>
            <a:r>
              <a:rPr dirty="0"/>
              <a:t> </a:t>
            </a:r>
            <a:r>
              <a:rPr dirty="0" err="1"/>
              <a:t>선택한</a:t>
            </a:r>
            <a:r>
              <a:rPr dirty="0"/>
              <a:t> </a:t>
            </a:r>
            <a:r>
              <a:rPr dirty="0" err="1"/>
              <a:t>이유를</a:t>
            </a:r>
            <a:r>
              <a:rPr dirty="0"/>
              <a:t> </a:t>
            </a:r>
            <a:r>
              <a:rPr dirty="0" err="1"/>
              <a:t>뒷받침합니다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표는</a:t>
            </a:r>
            <a:r>
              <a:rPr dirty="0"/>
              <a:t> </a:t>
            </a:r>
            <a:r>
              <a:rPr dirty="0" err="1"/>
              <a:t>성동구</a:t>
            </a:r>
            <a:r>
              <a:rPr dirty="0"/>
              <a:t> </a:t>
            </a:r>
            <a:r>
              <a:rPr dirty="0" err="1"/>
              <a:t>지하철역</a:t>
            </a:r>
            <a:r>
              <a:rPr dirty="0"/>
              <a:t> 7개소 </a:t>
            </a:r>
            <a:r>
              <a:rPr dirty="0" err="1"/>
              <a:t>각각에서</a:t>
            </a:r>
            <a:r>
              <a:rPr dirty="0"/>
              <a:t> Thermal </a:t>
            </a:r>
            <a:r>
              <a:rPr dirty="0" err="1"/>
              <a:t>Catchment를</a:t>
            </a:r>
            <a:r>
              <a:rPr dirty="0"/>
              <a:t> </a:t>
            </a:r>
            <a:r>
              <a:rPr dirty="0" err="1"/>
              <a:t>적용했을</a:t>
            </a:r>
            <a:r>
              <a:rPr dirty="0"/>
              <a:t> </a:t>
            </a:r>
            <a:r>
              <a:rPr dirty="0" err="1"/>
              <a:t>때</a:t>
            </a:r>
            <a:endParaRPr dirty="0"/>
          </a:p>
          <a:p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정류장이</a:t>
            </a:r>
            <a:r>
              <a:rPr dirty="0"/>
              <a:t> </a:t>
            </a:r>
            <a:r>
              <a:rPr dirty="0" err="1"/>
              <a:t>얼마나</a:t>
            </a:r>
            <a:r>
              <a:rPr dirty="0"/>
              <a:t> </a:t>
            </a:r>
            <a:r>
              <a:rPr dirty="0" err="1"/>
              <a:t>줄어드는지를</a:t>
            </a:r>
            <a:r>
              <a:rPr dirty="0"/>
              <a:t> </a:t>
            </a:r>
            <a:r>
              <a:rPr dirty="0" err="1"/>
              <a:t>보여줍니다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서울숲역은</a:t>
            </a:r>
            <a:r>
              <a:rPr dirty="0"/>
              <a:t> 80.0%, </a:t>
            </a:r>
            <a:r>
              <a:rPr dirty="0" err="1"/>
              <a:t>행당역은</a:t>
            </a:r>
            <a:r>
              <a:rPr dirty="0"/>
              <a:t> 77.6%로 </a:t>
            </a:r>
            <a:r>
              <a:rPr dirty="0" err="1"/>
              <a:t>손실율이</a:t>
            </a:r>
            <a:r>
              <a:rPr dirty="0"/>
              <a:t> </a:t>
            </a:r>
            <a:r>
              <a:rPr dirty="0" err="1"/>
              <a:t>높습니다</a:t>
            </a:r>
            <a:r>
              <a:rPr dirty="0"/>
              <a:t>.</a:t>
            </a:r>
          </a:p>
          <a:p>
            <a:r>
              <a:rPr dirty="0" err="1"/>
              <a:t>반면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역들은</a:t>
            </a:r>
            <a:r>
              <a:rPr dirty="0"/>
              <a:t> </a:t>
            </a:r>
            <a:r>
              <a:rPr dirty="0" err="1"/>
              <a:t>상대적으로</a:t>
            </a:r>
            <a:r>
              <a:rPr dirty="0"/>
              <a:t> </a:t>
            </a:r>
            <a:r>
              <a:rPr dirty="0" err="1"/>
              <a:t>낮은데</a:t>
            </a:r>
            <a:r>
              <a:rPr dirty="0"/>
              <a:t>,</a:t>
            </a:r>
          </a:p>
          <a:p>
            <a:r>
              <a:rPr dirty="0" err="1"/>
              <a:t>이는</a:t>
            </a:r>
            <a:r>
              <a:rPr dirty="0"/>
              <a:t> </a:t>
            </a:r>
            <a:r>
              <a:rPr dirty="0" err="1"/>
              <a:t>역</a:t>
            </a:r>
            <a:r>
              <a:rPr dirty="0"/>
              <a:t> </a:t>
            </a:r>
            <a:r>
              <a:rPr dirty="0" err="1"/>
              <a:t>주변</a:t>
            </a:r>
            <a:r>
              <a:rPr dirty="0"/>
              <a:t> </a:t>
            </a:r>
            <a:r>
              <a:rPr dirty="0" err="1"/>
              <a:t>도로망</a:t>
            </a:r>
            <a:r>
              <a:rPr dirty="0"/>
              <a:t> </a:t>
            </a:r>
            <a:r>
              <a:rPr dirty="0" err="1"/>
              <a:t>구성과</a:t>
            </a:r>
            <a:r>
              <a:rPr dirty="0"/>
              <a:t> </a:t>
            </a:r>
            <a:r>
              <a:rPr dirty="0" err="1"/>
              <a:t>건물</a:t>
            </a:r>
            <a:r>
              <a:rPr dirty="0"/>
              <a:t> </a:t>
            </a:r>
            <a:r>
              <a:rPr dirty="0" err="1"/>
              <a:t>차폐</a:t>
            </a:r>
            <a:r>
              <a:rPr dirty="0"/>
              <a:t> </a:t>
            </a:r>
            <a:r>
              <a:rPr dirty="0" err="1"/>
              <a:t>패턴이</a:t>
            </a:r>
            <a:r>
              <a:rPr dirty="0"/>
              <a:t> </a:t>
            </a:r>
            <a:r>
              <a:rPr dirty="0" err="1"/>
              <a:t>다르기</a:t>
            </a:r>
            <a:r>
              <a:rPr dirty="0"/>
              <a:t> </a:t>
            </a:r>
            <a:r>
              <a:rPr dirty="0" err="1"/>
              <a:t>때문입니다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이런</a:t>
            </a:r>
            <a:r>
              <a:rPr dirty="0"/>
              <a:t> </a:t>
            </a:r>
            <a:r>
              <a:rPr dirty="0" err="1"/>
              <a:t>역별</a:t>
            </a:r>
            <a:r>
              <a:rPr dirty="0"/>
              <a:t> </a:t>
            </a:r>
            <a:r>
              <a:rPr dirty="0" err="1"/>
              <a:t>차이는</a:t>
            </a:r>
            <a:r>
              <a:rPr dirty="0"/>
              <a:t> </a:t>
            </a:r>
            <a:r>
              <a:rPr dirty="0" err="1"/>
              <a:t>정책적으로</a:t>
            </a:r>
            <a:r>
              <a:rPr dirty="0"/>
              <a:t> </a:t>
            </a:r>
            <a:r>
              <a:rPr dirty="0" err="1"/>
              <a:t>의미가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r>
              <a:rPr dirty="0" err="1"/>
              <a:t>손실율이</a:t>
            </a:r>
            <a:r>
              <a:rPr dirty="0"/>
              <a:t> </a:t>
            </a:r>
            <a:r>
              <a:rPr dirty="0" err="1"/>
              <a:t>높은</a:t>
            </a:r>
            <a:r>
              <a:rPr dirty="0"/>
              <a:t> </a:t>
            </a:r>
            <a:r>
              <a:rPr dirty="0" err="1"/>
              <a:t>역일수록</a:t>
            </a:r>
            <a:r>
              <a:rPr dirty="0"/>
              <a:t> </a:t>
            </a:r>
            <a:r>
              <a:rPr dirty="0" err="1"/>
              <a:t>폭염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환승이나</a:t>
            </a:r>
            <a:r>
              <a:rPr dirty="0"/>
              <a:t> </a:t>
            </a:r>
            <a:r>
              <a:rPr dirty="0" err="1"/>
              <a:t>접근이</a:t>
            </a:r>
            <a:r>
              <a:rPr dirty="0"/>
              <a:t> </a:t>
            </a:r>
            <a:r>
              <a:rPr dirty="0" err="1"/>
              <a:t>더</a:t>
            </a:r>
            <a:r>
              <a:rPr dirty="0"/>
              <a:t> </a:t>
            </a:r>
            <a:r>
              <a:rPr dirty="0" err="1"/>
              <a:t>어렵고</a:t>
            </a:r>
            <a:r>
              <a:rPr dirty="0"/>
              <a:t>,</a:t>
            </a:r>
          </a:p>
          <a:p>
            <a:r>
              <a:rPr dirty="0" err="1"/>
              <a:t>쿨링</a:t>
            </a:r>
            <a:r>
              <a:rPr dirty="0"/>
              <a:t> </a:t>
            </a:r>
            <a:r>
              <a:rPr dirty="0" err="1"/>
              <a:t>인프라나</a:t>
            </a:r>
            <a:r>
              <a:rPr dirty="0"/>
              <a:t> </a:t>
            </a:r>
            <a:r>
              <a:rPr dirty="0" err="1"/>
              <a:t>그늘막</a:t>
            </a:r>
            <a:r>
              <a:rPr dirty="0"/>
              <a:t> </a:t>
            </a:r>
            <a:r>
              <a:rPr dirty="0" err="1"/>
              <a:t>등의</a:t>
            </a:r>
            <a:r>
              <a:rPr dirty="0"/>
              <a:t> </a:t>
            </a:r>
            <a:r>
              <a:rPr dirty="0" err="1"/>
              <a:t>우선</a:t>
            </a:r>
            <a:r>
              <a:rPr dirty="0"/>
              <a:t> </a:t>
            </a:r>
            <a:r>
              <a:rPr dirty="0" err="1"/>
              <a:t>설치</a:t>
            </a:r>
            <a:r>
              <a:rPr dirty="0"/>
              <a:t> </a:t>
            </a:r>
            <a:r>
              <a:rPr dirty="0" err="1"/>
              <a:t>대상이</a:t>
            </a:r>
            <a:r>
              <a:rPr dirty="0"/>
              <a:t> </a:t>
            </a:r>
            <a:r>
              <a:rPr dirty="0" err="1"/>
              <a:t>될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마지막 결과로 공간 환경 변수와 TARR의 관계를 OLS 회귀로 탐색했습니다.</a:t>
            </a:r>
          </a:p>
          <a:p>
            <a:endParaRPr/>
          </a:p>
          <a:p>
            <a:r>
              <a:t>전체 설명력 R²는 0.174로 높지 않지만,</a:t>
            </a:r>
          </a:p>
          <a:p>
            <a:r>
              <a:t>방향성은 물리적으로 타당합니다.</a:t>
            </a:r>
          </a:p>
          <a:p>
            <a:r>
              <a:t>고온링크 비율이 높은 집계구, SVF가 높은 개방된 집계구에서 TARR이 높고,</a:t>
            </a:r>
          </a:p>
          <a:p>
            <a:r>
              <a:t>건물 협곡비가 높아 그늘이 많은 곳에서는 TARR이 낮습니다.</a:t>
            </a:r>
          </a:p>
          <a:p>
            <a:endParaRPr/>
          </a:p>
          <a:p>
            <a:r>
              <a:t>이 회귀분석은 MRT 방법론의 근거가 아니라 보조적 탐색입니다.</a:t>
            </a:r>
          </a:p>
          <a:p>
            <a:r>
              <a:t>MRT 활용의 타당성은 SOLWEIG 등 기존 선행연구로 뒷받침하고,</a:t>
            </a:r>
          </a:p>
          <a:p>
            <a:r>
              <a:t>이 분석은 "어떤 공간 환경이 접근성 손실을 더 크게 만드는가"를 보여주는 부수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연구의 한계점을 솔직하게 밝히겠습니다.</a:t>
            </a:r>
          </a:p>
          <a:p>
            <a:endParaRPr/>
          </a:p>
          <a:p>
            <a:r>
              <a:t>가장 큰 한계는 바람 속도를 전 구간 동일하게 적용한 것입니다.</a:t>
            </a:r>
          </a:p>
          <a:p>
            <a:r>
              <a:t>실제 도시에서는 건물 배치에 따라 풍속이 크게 달라지는데, 이를 반영하지 못했습니다.</a:t>
            </a:r>
          </a:p>
          <a:p>
            <a:endParaRPr/>
          </a:p>
          <a:p>
            <a:r>
              <a:t>또한 MRT를 실제 측정값과 비교 검증하지 못한 점,</a:t>
            </a:r>
          </a:p>
          <a:p>
            <a:r>
              <a:t>그리고 분석 기간이 7일 단일 폭염 이벤트에 한정된 점도 한계입니다.</a:t>
            </a:r>
          </a:p>
          <a:p>
            <a:endParaRPr/>
          </a:p>
          <a:p>
            <a:r>
              <a:t>향후 연구로는 고령자 보행 속도를 분리해서 취약계층 분석,</a:t>
            </a:r>
          </a:p>
          <a:p>
            <a:r>
              <a:t>QWEN 같은 멀티모달 AI를 이용한 거리뷰 영상 기반 MRT 추정 자동화,</a:t>
            </a:r>
          </a:p>
          <a:p>
            <a:r>
              <a:t>그리고 TARR이 높은 집계구에 쿨링 인프라를 최적 배치하는 시뮬레이션 등을 계획하고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결론을 말씀드리겠습니다.</a:t>
            </a:r>
          </a:p>
          <a:p>
            <a:endParaRPr/>
          </a:p>
          <a:p>
            <a:r>
              <a:t>이 연구는 세 가지 기여를 합니다.</a:t>
            </a:r>
          </a:p>
          <a:p>
            <a:endParaRPr/>
          </a:p>
          <a:p>
            <a:r>
              <a:t>첫째, Thermal Catchment Area라는 새로운 공간 단위 개념을 제안했습니다.</a:t>
            </a:r>
          </a:p>
          <a:p>
            <a:r>
              <a:t>폭염 때 MRT가 높은 길을 피하면 실제로 갈 수 있는 정류장이 줄어드는데,</a:t>
            </a:r>
          </a:p>
          <a:p>
            <a:r>
              <a:t>이것을 공간 단위로 정의하고 측정한 것입니다.</a:t>
            </a:r>
          </a:p>
          <a:p>
            <a:endParaRPr/>
          </a:p>
          <a:p>
            <a:r>
              <a:t>둘째, 서울 성동구에서 실증한 결과, 폭염 피크 시간인 13시에 평균 73%의 정류장 접근 기회가 사라졌습니다.</a:t>
            </a:r>
          </a:p>
          <a:p>
            <a:r>
              <a:t>역별로도 차이가 있어서 서울숲역이 가장 심각합니다.</a:t>
            </a:r>
          </a:p>
          <a:p>
            <a:endParaRPr/>
          </a:p>
          <a:p>
            <a:r>
              <a:t>셋째, S-curve라는 중요한 발견과 Monte Carlo로 불확실성을 정량화했습니다.</a:t>
            </a:r>
          </a:p>
          <a:p>
            <a:r>
              <a:t>53~57°C 구간이 임계값 선택의 변곡점이며,</a:t>
            </a:r>
          </a:p>
          <a:p>
            <a:r>
              <a:t>Monte Carlo 결과가 단일값 결과와 근접하여 55°C 기준의 robustness를 확인했습니다.</a:t>
            </a:r>
          </a:p>
          <a:p>
            <a:endParaRPr/>
          </a:p>
          <a:p>
            <a:r>
              <a:t>정책적으로는 TARR이 높은 집계구를 우선 쿨링 인프라 설치 대상으로 식별하고,</a:t>
            </a:r>
          </a:p>
          <a:p>
            <a:r>
              <a:t>기후 적응형 도시 계획의 공간 기준으로 활용할 수 있습니다.</a:t>
            </a:r>
          </a:p>
          <a:p>
            <a:endParaRPr/>
          </a:p>
          <a:p>
            <a:r>
              <a:t>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한국지도학회 학술대회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4980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1A1A1A"/>
                </a:solidFill>
                <a:latin typeface="맑은 고딕"/>
              </a:rPr>
              <a:t>Thermal Catchment Area:
</a:t>
            </a:r>
            <a:r>
              <a:rPr sz="2800" b="1" dirty="0" err="1">
                <a:solidFill>
                  <a:srgbClr val="1A1A1A"/>
                </a:solidFill>
                <a:latin typeface="맑은 고딕"/>
              </a:rPr>
              <a:t>열노출을</a:t>
            </a:r>
            <a:r>
              <a:rPr sz="28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A1A1A"/>
                </a:solidFill>
                <a:latin typeface="맑은 고딕"/>
              </a:rPr>
              <a:t>반영한</a:t>
            </a:r>
            <a:r>
              <a:rPr sz="28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A1A1A"/>
                </a:solidFill>
                <a:latin typeface="맑은 고딕"/>
              </a:rPr>
              <a:t>보행</a:t>
            </a:r>
            <a:r>
              <a:rPr sz="28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A1A1A"/>
                </a:solidFill>
                <a:latin typeface="맑은 고딕"/>
              </a:rPr>
              <a:t>환경</a:t>
            </a:r>
            <a:r>
              <a:rPr sz="28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A1A1A"/>
                </a:solidFill>
                <a:latin typeface="맑은 고딕"/>
              </a:rPr>
              <a:t>접근성</a:t>
            </a:r>
            <a:r>
              <a:rPr sz="2800" b="1" dirty="0">
                <a:solidFill>
                  <a:srgbClr val="1A1A1A"/>
                </a:solidFill>
                <a:latin typeface="맑은 고딕"/>
              </a:rPr>
              <a:t>
</a:t>
            </a:r>
            <a:r>
              <a:rPr sz="2800" b="1" dirty="0" err="1">
                <a:solidFill>
                  <a:srgbClr val="1A1A1A"/>
                </a:solidFill>
                <a:latin typeface="맑은 고딕"/>
              </a:rPr>
              <a:t>공간</a:t>
            </a:r>
            <a:r>
              <a:rPr sz="28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A1A1A"/>
                </a:solidFill>
                <a:latin typeface="맑은 고딕"/>
              </a:rPr>
              <a:t>단위</a:t>
            </a:r>
            <a:r>
              <a:rPr sz="28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A1A1A"/>
                </a:solidFill>
                <a:latin typeface="맑은 고딕"/>
              </a:rPr>
              <a:t>제안</a:t>
            </a:r>
            <a:endParaRPr sz="2800" b="1" dirty="0">
              <a:solidFill>
                <a:srgbClr val="1A1A1A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555555"/>
                </a:solidFill>
                <a:latin typeface="맑은 고딕"/>
              </a:rPr>
              <a:t>MRT(</a:t>
            </a:r>
            <a:r>
              <a:rPr sz="1400" b="0" dirty="0" err="1">
                <a:solidFill>
                  <a:srgbClr val="555555"/>
                </a:solidFill>
                <a:latin typeface="맑은 고딕"/>
              </a:rPr>
              <a:t>평균복사온도</a:t>
            </a:r>
            <a:r>
              <a:rPr sz="1400" b="0" dirty="0">
                <a:solidFill>
                  <a:srgbClr val="555555"/>
                </a:solidFill>
                <a:latin typeface="맑은 고딕"/>
              </a:rPr>
              <a:t>) </a:t>
            </a:r>
            <a:r>
              <a:rPr sz="1400" b="0" dirty="0" err="1">
                <a:solidFill>
                  <a:srgbClr val="555555"/>
                </a:solidFill>
                <a:latin typeface="맑은 고딕"/>
              </a:rPr>
              <a:t>기반</a:t>
            </a:r>
            <a:r>
              <a:rPr sz="1400" b="0" dirty="0">
                <a:solidFill>
                  <a:srgbClr val="55555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55555"/>
                </a:solidFill>
                <a:latin typeface="맑은 고딕"/>
              </a:rPr>
              <a:t>보행</a:t>
            </a:r>
            <a:r>
              <a:rPr sz="1400" b="0" dirty="0">
                <a:solidFill>
                  <a:srgbClr val="55555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55555"/>
                </a:solidFill>
                <a:latin typeface="맑은 고딕"/>
              </a:rPr>
              <a:t>접근성</a:t>
            </a:r>
            <a:r>
              <a:rPr sz="1400" b="0" dirty="0">
                <a:solidFill>
                  <a:srgbClr val="55555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55555"/>
                </a:solidFill>
                <a:latin typeface="맑은 고딕"/>
              </a:rPr>
              <a:t>감소</a:t>
            </a:r>
            <a:r>
              <a:rPr sz="1400" b="0" dirty="0">
                <a:solidFill>
                  <a:srgbClr val="55555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55555"/>
                </a:solidFill>
                <a:latin typeface="맑은 고딕"/>
              </a:rPr>
              <a:t>분석</a:t>
            </a:r>
            <a:r>
              <a:rPr sz="1400" b="0" dirty="0">
                <a:solidFill>
                  <a:srgbClr val="555555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555555"/>
                </a:solidFill>
                <a:latin typeface="맑은 고딕"/>
              </a:rPr>
              <a:t>서울</a:t>
            </a:r>
            <a:r>
              <a:rPr sz="1400" b="0" dirty="0">
                <a:solidFill>
                  <a:srgbClr val="55555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55555"/>
                </a:solidFill>
                <a:latin typeface="맑은 고딕"/>
              </a:rPr>
              <a:t>성동구</a:t>
            </a:r>
            <a:r>
              <a:rPr sz="1400" b="0" dirty="0">
                <a:solidFill>
                  <a:srgbClr val="555555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55555"/>
                </a:solidFill>
                <a:latin typeface="맑은 고딕"/>
              </a:rPr>
              <a:t>사례</a:t>
            </a:r>
            <a:endParaRPr sz="1400" b="0" dirty="0">
              <a:solidFill>
                <a:srgbClr val="555555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0" y="4663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맑은 고딕"/>
              </a:rPr>
              <a:t>신진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074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</a:rPr>
              <a:t>경희대학교 기후사회과학융합학과 석사과정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5440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2026. 05. 30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263640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tarr_spatial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0"/>
            <a:ext cx="3749039" cy="31077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49808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00584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연구 배경 및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874519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연구 지역 및 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4320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74320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방법론 — MRT 산출 · Thermal Catchment · Monte Carlo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11879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611879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611879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분석 결과 — S-curve · 공간 분포 · 시간대 비교 · 회귀분석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48056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한계점 및 향후 연구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34924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534924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연구 배경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71576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기존 접근성 분석의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역세권 Catchment Area는 보행 네트워크의 물리적 거리·시간만을 기준으로 정의됩니다.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보행자가 균질한 환경에서 이동한다는 암묵적 가정에 기반합니다.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도로 유형, 경사, 기상 조건 등 실제 보행 환경의 이질성을 전혀 반영하지 못합니다.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기후변화로 인해 도시 폭염의 빈도와 강도가 지속적으로 증가하고 있습니다.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서울 기준 폭염일수: 2010년대 평균 10.3일 → 2020년대 평균 15.8일 (기상청)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2025년 서울 성동구: 7월 28일~8월 3일 연속 7일 폭염 지속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UTCI(Universal Thermal Climate Index) ≥ 38°C는 "Very Strong Heat Stress" 단계입니다.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이 조건에서는 보행 활동이 신체에 심각한 위험을 초래하며,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실제로 보행자들은 노출 경로를 회피하거나 이동 자체를 포기합니다.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66928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264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  <a:latin typeface="맑은 고딕"/>
              </a:rPr>
              <a:t>● 열환경 임계값을 초과할 때 접근 가능 범위 자체가 달라지는 공간 단위 개념은 제안된 바 없습니다.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임계값의 불확실성(기상 조건 변동)을 확률적으로 다루는 연구도 존재하지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연구 목적 및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목적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Thermal Catchment Area 개념 제안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폭염 시 MRT(평균복사온도) 기반 Hard Cut을 적용하여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실제 보행 가능 범위를 기존 Catchment와 구분되는 새로운 공간 단위로 정식화합니다.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서울 성동구 집계구 기점 대중교통 접근성 분석에 적용하여 실증적 유효성을 검증합니다.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집계구(n=506) × 정류장(489개, 네트워크 노드 385개) 기반 Dijkstra 최단경로 분석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Monte Carlo 방법으로 임계값 불확실성을 정량화합니다.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threshold ~ N(μ=55°C, σ²=4²) 에서 2,000개 샘플링 → TARR 확률 분포 획득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75488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212080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Q1. MRT Hard Cut 적용 시, 폭염 조건에서 기존 Catchment 대비 Thermal Catchment의 접근 가능 정류장은 얼마나 감소하는가?</a:t>
            </a:r>
          </a:p>
          <a:p>
            <a:endParaRPr sz="1200" b="1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Q2. MRT 임계값의 불확실성을 Monte Carlo로 전파했을 때, TARR의 확률 분포와 공간 패턴은 어떠한가?</a:t>
            </a:r>
          </a:p>
          <a:p>
            <a:endParaRPr sz="1200" b="1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Q3. TARR 패턴이 집계구의 공간 환경 변수(SVF, 캐노피, 건물 형태 등)와 어떠한 관계를 갖는가?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연구 지역 및 데이터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236976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지역: 서울특별시 성동구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면적: 16.86 km² | 지하철역 7개소: 왕십리·행당·응봉·뚝섬·성수·서울숲·옥수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한강·중랑천 수변 공간 + 서울숲 대형 녹지 + 왕십리·성수 업무지구 + 아파트 단지 혼재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도시 형태가 다양하여 열환경 공간 변이가 크고, 접근성 분석의 적절한 대상 지역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347472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분석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93192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  <a:latin typeface="맑은 고딕"/>
              </a:rPr>
              <a:t>● 보행 네트워크:  OpenStreetMap (osmnx) — 보행 링크 15,608개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기상 데이터:     성동구 S-DoT 스마트 센서 — 57개소, 10분 간격 (기온·습도·풍속)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일사량(GHI):    Open-Meteo archive — 성동구 중심 단일 지점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집계구 경계:    통계청 2016 기준 — 570개 집계구 (유효 집계구 506개)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대중교통 정류장: 지하철 7개 + 버스 482개 = 489개 (네트워크 노드 기준 385개)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건물 데이터:    OSM 건물 폴리곤 — SVF 산출용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분석 기간: 2025년 7월 28일 – 8월 3일 폭염일 7일 평균</a:t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분석 시간대: 13시 (태양 복사 최대·폭염 피크), 비교 분석: 9시·13시·18시</a:t>
            </a:r>
          </a:p>
        </p:txBody>
      </p:sp>
      <p:pic>
        <p:nvPicPr>
          <p:cNvPr id="9" name="Picture 8" descr="00_SDot센서위치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188720"/>
            <a:ext cx="4480560" cy="42221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545657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1. 성동구 S-DoT 기상 센서 위치 (n=57개)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66928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Step 1: MRT 산출 — SOLWEIG 약식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7132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1A1A"/>
                </a:solidFill>
                <a:latin typeface="맑은 고딕"/>
              </a:rPr>
              <a:t>● Lindberg &amp; Grimmond(2011) SOLWEIG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모형을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기반으로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Python으로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직접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구현하였습니다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.</a:t>
            </a:r>
          </a:p>
          <a:p>
            <a:r>
              <a:rPr sz="1100" b="1" dirty="0">
                <a:solidFill>
                  <a:srgbClr val="1A1A1A"/>
                </a:solidFill>
                <a:latin typeface="맑은 고딕"/>
              </a:rPr>
              <a:t>●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보행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네트워크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링크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(15,608개)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각각에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대해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MRT를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산출합니다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.</a:t>
            </a:r>
          </a:p>
          <a:p>
            <a:endParaRPr sz="1100" b="1" dirty="0">
              <a:solidFill>
                <a:srgbClr val="1A1A1A"/>
              </a:solidFill>
              <a:latin typeface="맑은 고딕"/>
            </a:endParaRPr>
          </a:p>
          <a:p>
            <a:r>
              <a:rPr sz="1100" b="1" dirty="0">
                <a:solidFill>
                  <a:srgbClr val="1A1A1A"/>
                </a:solidFill>
                <a:latin typeface="맑은 고딕"/>
              </a:rPr>
              <a:t> 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Tmrt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 =  [ (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Ksw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+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Llw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) /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σ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]^0.25  − 273.15   [°C]</a:t>
            </a:r>
          </a:p>
          <a:p>
            <a:endParaRPr sz="1100" b="1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▶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단파복사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Ksw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 =  αp × [ (1−SVF)·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Kdif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+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shadow·Kdir·cosθ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+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SVF·Kdif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]</a:t>
            </a: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  - SVF (Sky View Factor):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하늘이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얼마나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열려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있는가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(0=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완전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차폐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, 1=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완전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개방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)</a:t>
            </a: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  -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Kdir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직달일사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),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Kdif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확산일사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): GHI → Erbs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모델로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분리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  - shadow: 13시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태양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천정각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기반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그림자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마스크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(1=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그늘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, 0=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직사광선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)</a:t>
            </a: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  - αp = 0.70 (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인체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흡수율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)</a:t>
            </a: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▶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장파복사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Llw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 = 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εp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× [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SVF·Lsky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+ (1−SVF)·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Lwall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]</a:t>
            </a: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  -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Lsky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=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εsky·σ·Tair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⁴  (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Brutsaert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1975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대기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방출률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)</a:t>
            </a: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  -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Lwall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=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εw·σ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·(Tair + 5)⁴  (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건물벽면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복사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, ΔT=5K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가정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)</a:t>
            </a: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  -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εp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= 0.97 (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인체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방출률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)</a:t>
            </a:r>
          </a:p>
        </p:txBody>
      </p:sp>
      <p:pic>
        <p:nvPicPr>
          <p:cNvPr id="7" name="Picture 6" descr="06_M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371600"/>
            <a:ext cx="4297680" cy="35572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4974575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2. 링크별 MRT 분포 (13시, 폭염일 평균)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19048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Step 2: Thermal Catchment Area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Classic Catchment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집계구 도심에서 보행 속도 4.5 km/h 기준, 15분 이내 도달 가능한 정류장의 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열환경 무시 — 기존 역세권 접근성 분석의 표준 방식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Thermal Catchment  [본 연구 핵심 개념]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MRT ≥ 임계값(threshold)인 링크를 네트워크에서 제거한 뒤,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남은 네트워크에서 15분 이내 도달 가능한 정류장의 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Hard Cut 가정: 보행자는 MRT가 임계값 이상인 링크를 완전히 회피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Dijkstra 알고리즘(최단경로)으로 각 집계구에서 도달 가능 정류장 탐색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열노출에 의한 접근성 감소율 정량화</a:t>
            </a:r>
          </a:p>
          <a:p>
            <a:endParaRPr sz="1200" b="1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   접근성 감소율 (%) =  ( Classic_cnt − Thermal_cnt ) / Classic_cnt  ×  100</a:t>
            </a:r>
          </a:p>
          <a:p>
            <a:endParaRPr sz="1200" b="1">
              <a:solidFill>
                <a:srgbClr val="1A1A1A"/>
              </a:solidFill>
              <a:latin typeface="맑은 고딕"/>
            </a:endParaRP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0%: 열환경 제약 없음 — 열노출에도 접근 가능 범위 유지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100%: 모든 정류장 접근 불가 — 완전 고립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감소율이 높은 집계구 = 열노출 시 보행 접근성 취약 지역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016752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Step 3: 임계값 민감도 검증 — Monte Carlo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왜 민감도 검증이 필요한가?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MRT 임계값(55°C)은 UTCI 기준에서 추론한 값으로, 단일 고정값이 갖는 불확실성이 있습니다.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기상 조건(기온·습도·풍속)은 날마다 달라지므로, 실질적인 "위험 MRT"는 범위로 존재합니다.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따라서 임계값이 ±몇 °C 달라져도 결론이 유지되는지(robust한지) 확인이 필요합니다.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분석 설계 (N=2,000 샘플, 난수 시드 42 고정)</a:t>
            </a:r>
          </a:p>
          <a:p>
            <a:endParaRPr sz="1200" b="1">
              <a:solidFill>
                <a:srgbClr val="1A1A1A"/>
              </a:solidFill>
              <a:latin typeface="맑은 고딕"/>
            </a:endParaRP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1.  MRT 임계값 그리드 [45, 49, 51, 53, 55, 57, 59, 61, 65°C] 설정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      → 9개 임계값 각각에 대해 집계구별(n=506) TARR 사전 계산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2.  threshold ~ N(μ=55°C, σ=4°C) 에서 2,000개 샘플링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      → 95% 범위: 47~63°C (물리적으로 가능한 MRT 임계값 범위)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3.  집계구별 TARR(threshold) 선형 보간 → 샘플별 TARR 획득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      → (집계구 506 × 샘플 2,000) 매트릭스 구성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4.  집계구별 TARR 중앙값·95% CI(2.5~97.5 퍼센타일) 산출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dirty="0" err="1">
                <a:solidFill>
                  <a:srgbClr val="1A1A1A"/>
                </a:solidFill>
                <a:latin typeface="맑은 고딕"/>
              </a:rPr>
              <a:t>분석</a:t>
            </a:r>
            <a:r>
              <a:rPr sz="24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2400" b="0" dirty="0" err="1">
                <a:solidFill>
                  <a:srgbClr val="1A1A1A"/>
                </a:solidFill>
                <a:latin typeface="맑은 고딕"/>
              </a:rPr>
              <a:t>결과</a:t>
            </a:r>
            <a:endParaRPr sz="2400" b="0" dirty="0">
              <a:solidFill>
                <a:srgbClr val="1A1A1A"/>
              </a:solidFill>
              <a:latin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758183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임계값 민감도 검증: S-curve</a:t>
            </a:r>
          </a:p>
        </p:txBody>
      </p:sp>
      <p:pic>
        <p:nvPicPr>
          <p:cNvPr id="6" name="Picture 5" descr="mc_threshold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79" y="1563624"/>
            <a:ext cx="7498079" cy="46507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13747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3. MRT 임계값 민감도 곡선 (집계구 평균 TARR ± 1 std, n=506, 13시)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417320"/>
            <a:ext cx="37490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핵심 해석</a:t>
            </a:r>
          </a:p>
          <a:p>
            <a:endParaRPr sz="1100" b="1">
              <a:solidFill>
                <a:srgbClr val="1A1A1A"/>
              </a:solidFill>
              <a:latin typeface="맑은 고딕"/>
            </a:endParaRP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45°C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95%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거의 모든 링크 차단</a:t>
            </a:r>
          </a:p>
          <a:p>
            <a:endParaRPr sz="1100" b="0">
              <a:solidFill>
                <a:srgbClr val="1A1A1A"/>
              </a:solidFill>
              <a:latin typeface="맑은 고딕"/>
            </a:endParaRP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53°C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88%</a:t>
            </a:r>
          </a:p>
          <a:p>
            <a:endParaRPr sz="1100" b="1">
              <a:solidFill>
                <a:srgbClr val="1A1A1A"/>
              </a:solidFill>
              <a:latin typeface="맑은 고딕"/>
            </a:endParaRP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55°C 임계값 ← 기준값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73%</a:t>
            </a:r>
          </a:p>
          <a:p>
            <a:endParaRPr sz="1100" b="1">
              <a:solidFill>
                <a:srgbClr val="1A1A1A"/>
              </a:solidFill>
              <a:latin typeface="맑은 고딕"/>
            </a:endParaRP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57°C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39%</a:t>
            </a:r>
          </a:p>
          <a:p>
            <a:endParaRPr sz="1100" b="1">
              <a:solidFill>
                <a:srgbClr val="1A1A1A"/>
              </a:solidFill>
              <a:latin typeface="맑은 고딕"/>
            </a:endParaRP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65°C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5%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거의 차단 없음</a:t>
            </a:r>
          </a:p>
          <a:p>
            <a:endParaRPr sz="1100" b="0">
              <a:solidFill>
                <a:srgbClr val="1A1A1A"/>
              </a:solidFill>
              <a:latin typeface="맑은 고딕"/>
            </a:endParaRP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★ 53~57°C 구간: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TARR 88%→39% 급변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= S-curve 변곡점</a:t>
            </a:r>
          </a:p>
          <a:p>
            <a:endParaRPr sz="1100" b="1">
              <a:solidFill>
                <a:srgbClr val="1A1A1A"/>
              </a:solidFill>
              <a:latin typeface="맑은 고딕"/>
            </a:endParaRP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→ 55°C = 변곡점 중심,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보수적 기준값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885432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열노출에 의한 접근성 감소율 공간 분포 (MRT 55°C, 13시)</a:t>
            </a:r>
          </a:p>
        </p:txBody>
      </p:sp>
      <p:pic>
        <p:nvPicPr>
          <p:cNvPr id="6" name="Picture 5" descr="tarr_spatial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401" y="1939945"/>
            <a:ext cx="5147936" cy="42674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583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4. 집계구별 TARR 공간 분포 (n=506, 폭염일 평균)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417320"/>
            <a:ext cx="3200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주요 통계</a:t>
            </a:r>
          </a:p>
          <a:p>
            <a:endParaRPr sz="1100" b="1">
              <a:solidFill>
                <a:srgbClr val="1A1A1A"/>
              </a:solidFill>
              <a:latin typeface="맑은 고딕"/>
            </a:endParaRP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집계구 평균 감소율: 73.3%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열노출 시 평균 73%의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정류장 접근 기회 손실</a:t>
            </a:r>
          </a:p>
          <a:p>
            <a:endParaRPr sz="1100" b="0">
              <a:solidFill>
                <a:srgbClr val="1A1A1A"/>
              </a:solidFill>
              <a:latin typeface="맑은 고딕"/>
            </a:endParaRP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감소율 &gt; 80%: 고취약 지역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(짙은 빨강)</a:t>
            </a:r>
          </a:p>
          <a:p>
            <a:endParaRPr sz="1100" b="0">
              <a:solidFill>
                <a:srgbClr val="1A1A1A"/>
              </a:solidFill>
              <a:latin typeface="맑은 고딕"/>
            </a:endParaRP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공간 패턴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한강변·서울숲 주변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감소율 높음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(개방 구간 = 고온 링크 多)</a:t>
            </a:r>
          </a:p>
          <a:p>
            <a:endParaRPr sz="1100" b="0">
              <a:solidFill>
                <a:srgbClr val="1A1A1A"/>
              </a:solidFill>
              <a:latin typeface="맑은 고딕"/>
            </a:endParaRP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건물 밀집 구간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감소율 상대적 낮음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(SVF↓ = 그늘 多)</a:t>
            </a:r>
          </a:p>
          <a:p>
            <a:endParaRPr sz="1100" b="0">
              <a:solidFill>
                <a:srgbClr val="1A1A1A"/>
              </a:solidFill>
              <a:latin typeface="맑은 고딕"/>
            </a:endParaRP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공간 군집 패턴 존재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Moran's I 분석 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95544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임계값 민감도 검증: Monte Carlo 분포 결과</a:t>
            </a:r>
          </a:p>
        </p:txBody>
      </p:sp>
      <p:pic>
        <p:nvPicPr>
          <p:cNvPr id="6" name="Picture 5" descr="mc_tar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707" y="1796694"/>
            <a:ext cx="8996355" cy="34526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5. (좌) 집계구별 TARR 중앙값 분포 히스토그램 / (우) 95% CI 폭 분포 히스토그램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5833872"/>
            <a:ext cx="11338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1A1A"/>
                </a:solidFill>
                <a:latin typeface="맑은 고딕"/>
              </a:rPr>
              <a:t>●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접근성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감소율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중앙값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평균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: 70.2%  (std: 18.3%)  → 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단일값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73.3%와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근접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→ robust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확인</a:t>
            </a:r>
            <a:endParaRPr sz="1100" b="1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95% CI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폭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평균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39.0%p  → 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임계값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±4°C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불확실성이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감소율을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약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39%p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변동시킬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수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있음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CI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폭이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넓은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이유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53~57°C S-curve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경사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구간이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샘플링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범위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안에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포함되기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때문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이는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결과의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불안정을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의미하는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것이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아니라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해당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구간에서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임계값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선택이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결정적임을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보여줌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626864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Monte Carlo — 집계구별 공간 분포</a:t>
            </a:r>
          </a:p>
        </p:txBody>
      </p:sp>
      <p:pic>
        <p:nvPicPr>
          <p:cNvPr id="6" name="Picture 5" descr="mc_tarr_ci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606" y="1779744"/>
            <a:ext cx="9602213" cy="44426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6. (좌) 집계구별 TARR 중앙값 공간 분포 / (우) 95% CI 폭 공간 분포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좌: TARR 중앙값 — 한강변·서울숲 주변 고취약, 건물 밀집 구간 상대적 저취약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우: CI 폭 — S-curve 민감 구간에 걸리는 집계구일수록 CI 폭이 넓게 나타남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45312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시간대별 비교: 9시 · 13시 · 18시</a:t>
            </a:r>
          </a:p>
        </p:txBody>
      </p:sp>
      <p:pic>
        <p:nvPicPr>
          <p:cNvPr id="6" name="Picture 5" descr="tarr_3hour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71600"/>
            <a:ext cx="11430000" cy="379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210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7. 시간대별 MRT 최댓값, 고온링크 비율(MRT≥55°C), 집계구 평균 TARR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436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9시: MRT 낮음 → 고온링크 비율·TARR 모두 낮음 — 폭염 이전 시간대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13시: MRT 최대 → 고온링크 비율 최대 → TARR 최대 (73.3%) — 분석 기준 시간대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18시: MRT 감소 시작 → TARR 감소 — 일몰 전 회복 단계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→ 13시가 접근성 제약이 가장 심각한 시간대임을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758183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지하철역별 접근 가능 정류장 손실율</a:t>
            </a:r>
          </a:p>
        </p:txBody>
      </p:sp>
      <p:pic>
        <p:nvPicPr>
          <p:cNvPr id="6" name="Picture 5" descr="station_stop_loss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71600"/>
            <a:ext cx="11430000" cy="39118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329191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8. 지하철역 7개소별 Classic·Thermal Catchment 정류장 수 및 손실율 (MRT 55°C, 13시)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서울숲역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80.0%,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행당역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77.6%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등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역별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손실율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차이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역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주변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열환경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이질성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반영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손실율이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높은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역일수록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폭염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환승·접근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대안이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더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제한됨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016752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공간 환경 변수 × TARR OLS 회귀분석 (보조 분석)</a:t>
            </a:r>
          </a:p>
        </p:txBody>
      </p:sp>
      <p:pic>
        <p:nvPicPr>
          <p:cNvPr id="6" name="Picture 5" descr="regress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69" y="1577340"/>
            <a:ext cx="11430000" cy="23256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743009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9. 공간 환경 변수 5개 × TARR OLS 회귀 산점도 (n=506)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669280"/>
            <a:ext cx="11338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● OLS 결과: R² = 0.174 (모형 설명력 17.4%)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hot_link_ratio (r=0.332***): 고온링크 비율이 높은 집계구일수록 TARR 높음 — 가장 강한 관계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SVF (r=0.295***): SVF가 높은(개방된) 집계구일수록 TARR 높음 — 그늘 부족 ↔ 고온 링크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H/W ratio (r=−0.208***): 협곡비가 높을수록 TARR 낮음 — 건물 차폐로 그늘 확보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해석: 이 회귀분석은 "MRT 선택의 근거"가 아닌 보조적 탐색 분석입니다.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MRT 활용의 타당성은 SOLWEIG 선행연구(Lindberg &amp; Grimmond 2011 등)로 뒷받침합니다.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5.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한계점 및 향후 연구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667998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한계점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298934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바람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속도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균일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가정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va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= 2.37 m/s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구간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동일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적용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도시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협곡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실제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풍속은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2~5배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변이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대류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효과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과소·과대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혼재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향후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CFD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시뮬레이션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또는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다점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S-DoT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풍속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보정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필요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GHI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단일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지점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성동구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전체에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동일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일사량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적용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구름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패턴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등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미세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공간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차이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미반영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MRT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실측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검증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부재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SOLWEIG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약식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추정값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—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복사계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실측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비교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미수행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Hard Cut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행동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가정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보행자가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고온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링크를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완전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회피한다는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실증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근거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없음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"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물리적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열스트레스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임계값"으로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재해석하여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행동적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의미와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구분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집계구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도심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가정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실제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거주민은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집계구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전역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분포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도심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출발은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근사치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분석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기간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2025.07.28–08.03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단일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폭염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이벤트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(7일) —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사례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연구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수준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일반화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한계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OSM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네트워크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: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지하도·실내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공조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구간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등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열환경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양호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경로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미포함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080760" y="1667998"/>
            <a:ext cx="184708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향후 연구 방향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298934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 err="1">
                <a:solidFill>
                  <a:srgbClr val="1A1A1A"/>
                </a:solidFill>
                <a:latin typeface="맑은 고딕"/>
              </a:rPr>
              <a:t>향후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연구</a:t>
            </a:r>
            <a:r>
              <a:rPr sz="1100" b="1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1A"/>
                </a:solidFill>
                <a:latin typeface="맑은 고딕"/>
              </a:rPr>
              <a:t>방향</a:t>
            </a:r>
            <a:endParaRPr sz="1100" b="1" dirty="0">
              <a:solidFill>
                <a:srgbClr val="1A1A1A"/>
              </a:solidFill>
              <a:latin typeface="맑은 고딕"/>
            </a:endParaRPr>
          </a:p>
          <a:p>
            <a:endParaRPr sz="1100" b="1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고령자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보행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속도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(3.0 km/h)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분리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적용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폭염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취약계층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(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노인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)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접근성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분석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QWEN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멀티모달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LLM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거리뷰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분석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거리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영상에서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SVF·그림자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자동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추출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MRT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추정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자동화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파이프라인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CFD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또는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다점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S-DoT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풍속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연계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바람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공간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변이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반영한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MRT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정밀화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●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쿨링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인프라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최적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분석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TARR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고취약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집계구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대상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  <a:p>
            <a:r>
              <a:rPr sz="1100" b="0" dirty="0">
                <a:solidFill>
                  <a:srgbClr val="1A1A1A"/>
                </a:solidFill>
                <a:latin typeface="맑은 고딕"/>
              </a:rPr>
              <a:t>   →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그늘막·수경시설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1A1A1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A1A1A"/>
                </a:solidFill>
                <a:latin typeface="맑은 고딕"/>
              </a:rPr>
              <a:t>시뮬레이션</a:t>
            </a:r>
            <a:endParaRPr sz="1100" b="0" dirty="0">
              <a:solidFill>
                <a:srgbClr val="1A1A1A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6.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요약 및 기여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개념적 기여: Thermal Catchment Area 제안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열노출 조건에서 MRT 기반 Hard Cut을 적용한 새로운 보행 접근성 공간 단위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기존 Catchment가 무시해온 열환경 제약을 공간 단위 자체에 내재화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실증 결과: 성동구 집계구(n=506), MRT 55°C 기준, 13시 기준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집계구 평균 접근성 감소율 73.3% — 열노출 시 약 73%의 정류장 접근 기회 손실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서울숲역 80.0%, 행당역 77.6% 등 역별 차이 확인 → 공간 환경 이질성 반영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임계값 민감도 검증 (Monte Carlo, N=2,000)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단일값(73.3%)이 Monte Carlo 중앙값(70.2%)과 근접 → 55°C 기준의 robust성 확인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S-curve 발견: 53~57°C 구간에서 접근성 감소율 급변 — 임계값 선택이 결정적인 구간 존재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정책적 함의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접근성 감소율이 높은 집계구를 우선 쿨링 인프라 정비 대상으로 공간적 식별 가능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Thermal Catchment는 기후 적응형 도시 접근성 계획의 공간 기준 단위로 활용 가능</a:t>
            </a:r>
          </a:p>
          <a:p>
            <a:endParaRPr sz="1200" b="0">
              <a:solidFill>
                <a:srgbClr val="1A1A1A"/>
              </a:solidFill>
              <a:latin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6492240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1456</TotalTime>
  <Words>3982</Words>
  <Application>Microsoft Macintosh PowerPoint</Application>
  <PresentationFormat>사용자 지정</PresentationFormat>
  <Paragraphs>450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신진</cp:lastModifiedBy>
  <cp:revision>4</cp:revision>
  <dcterms:created xsi:type="dcterms:W3CDTF">2013-01-27T09:14:16Z</dcterms:created>
  <dcterms:modified xsi:type="dcterms:W3CDTF">2026-05-20T16:25:55Z</dcterms:modified>
  <cp:category/>
</cp:coreProperties>
</file>