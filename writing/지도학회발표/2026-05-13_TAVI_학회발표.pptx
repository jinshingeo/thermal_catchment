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</a:rPr>
              <a:t>한국지도학회 학술대회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772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Thermal Catchment Area:
MRT 기반 확률적 임계값과
Monte Carlo 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맑은 고딕"/>
              </a:rPr>
              <a:t>폭염을 반영한 보행 대중교통 접근성 공간 단위 제안
— 서울 성동구 사례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맑은 고딕"/>
              </a:rPr>
              <a:t>신진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경희대학교 기후사회과학융합학과 석사과정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2026. 05. 30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263640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rr_spatia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548640"/>
            <a:ext cx="3566160" cy="29561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49808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73152" cy="329184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2234"/>
                </a:solidFill>
                <a:latin typeface="맑은 고딕"/>
              </a:rPr>
              <a:t>Chapter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00584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맑은 고딕"/>
              </a:rPr>
              <a:t>연구 배경 및 목적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73152" cy="329184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2234"/>
                </a:solidFill>
                <a:latin typeface="맑은 고딕"/>
              </a:rPr>
              <a:t>Chapter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874519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맑은 고딕"/>
              </a:rPr>
              <a:t>연구 지역 및 데이터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73152" cy="329184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2234"/>
                </a:solidFill>
                <a:latin typeface="맑은 고딕"/>
              </a:rPr>
              <a:t>Chapter 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7432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맑은 고딕"/>
              </a:rPr>
              <a:t>방법론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79"/>
            <a:ext cx="73152" cy="329184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11879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2234"/>
                </a:solidFill>
                <a:latin typeface="맑은 고딕"/>
              </a:rPr>
              <a:t>Chapter 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611879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맑은 고딕"/>
              </a:rPr>
              <a:t>분석 결과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73152" cy="329184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2234"/>
                </a:solidFill>
                <a:latin typeface="맑은 고딕"/>
              </a:rPr>
              <a:t>Chapter 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48056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맑은 고딕"/>
              </a:rPr>
              <a:t>한계점 및 향후 연구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349240"/>
            <a:ext cx="73152" cy="329184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4924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2234"/>
                </a:solidFill>
                <a:latin typeface="맑은 고딕"/>
              </a:rPr>
              <a:t>Chapter 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34924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맑은 고딕"/>
              </a:rPr>
              <a:t>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연구 배경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505456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기존 접근성 분석의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19072"/>
            <a:ext cx="11338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  <a:latin typeface="맑은 고딕"/>
              </a:rPr>
              <a:t>● 역세권 Catchment Area = 물리적 거리·시간만을 기준으로 정의</a:t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>   → 보행자가 균질한 환경에서 이동한다는 암묵적 가정에 기반</a:t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>   → 현실의 보행 환경은 공간적으로 이질적이며, 기상 조건에 따라 크게 달라짐</a:t>
            </a:r>
          </a:p>
          <a:p>
            <a:r>
              <a:rPr sz="1300" b="1">
                <a:solidFill>
                  <a:srgbClr val="1A1A1A"/>
                </a:solidFill>
                <a:latin typeface="맑은 고딕"/>
              </a:rPr>
              <a:t>● 기후변화로 도시 폭염의 빈도·강도 증가 → 여름철 보행 열 스트레스 심화</a:t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>   → UTCI ≥ 38°C: "Very Strong Heat Stress" — 신체 활동에 심각한 위험</a:t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>   → 그럼에도 기존 접근성 연구에서 열환경을 체계적으로 반영한 공간 단위 없음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846320"/>
            <a:ext cx="1828800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연구 공백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0352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  <a:latin typeface="맑은 고딕"/>
              </a:rPr>
              <a:t>● 열환경 임계값을 초과할 때 접근 가능 범위 자체가 변하는 공간 단위 개념 없음</a:t>
            </a:r>
          </a:p>
          <a:p>
            <a:r>
              <a:rPr sz="1300" b="1">
                <a:solidFill>
                  <a:srgbClr val="1A1A1A"/>
                </a:solidFill>
                <a:latin typeface="맑은 고딕"/>
              </a:rPr>
              <a:t>● 임계값의 불확실성을 확률적으로 다루는 연구 없음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연구 목적 및 질문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88719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연구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19072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  <a:latin typeface="맑은 고딕"/>
              </a:rPr>
              <a:t>● Thermal Catchment Area 개념 제안</a:t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>   → 폭염 시 MRT 기반 Hard Cut을 적용하여 실제 보행 가능 범위를 공간 단위로 정식화</a:t>
            </a:r>
          </a:p>
          <a:p>
            <a:r>
              <a:rPr sz="1300" b="1">
                <a:solidFill>
                  <a:srgbClr val="1A1A1A"/>
                </a:solidFill>
                <a:latin typeface="맑은 고딕"/>
              </a:rPr>
              <a:t>● 서울 성동구 집계구 기점 대중교통 접근성 분석에 적용 → 실증적 유효성 검증</a:t>
            </a:r>
          </a:p>
          <a:p>
            <a:r>
              <a:rPr sz="1300" b="1">
                <a:solidFill>
                  <a:srgbClr val="1A1A1A"/>
                </a:solidFill>
                <a:latin typeface="맑은 고딕"/>
              </a:rPr>
              <a:t>● Monte Carlo로 임계값 불확실성을 정량화 → 확률적 TARR 분포 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657600"/>
            <a:ext cx="1645920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연구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16052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  <a:latin typeface="맑은 고딕"/>
              </a:rPr>
              <a:t>Q1. MRT Hard Cut 적용 시, 폭염 조건에서 기존 Catchment 대비 접근 가능 정류장은 얼마나 감소하는가?</a:t>
            </a:r>
          </a:p>
          <a:p>
            <a:r>
              <a:rPr sz="1300" b="1">
                <a:solidFill>
                  <a:srgbClr val="1A1A1A"/>
                </a:solidFill>
                <a:latin typeface="맑은 고딕"/>
              </a:rPr>
              <a:t>Q2. MRT 임계값의 불확실성을 Monte Carlo로 전파했을 때, TARR의 확률 분포는 어떠한가?</a:t>
            </a:r>
          </a:p>
          <a:p>
            <a:r>
              <a:rPr sz="1300" b="1">
                <a:solidFill>
                  <a:srgbClr val="1A1A1A"/>
                </a:solidFill>
                <a:latin typeface="맑은 고딕"/>
              </a:rPr>
              <a:t>Q3. 접근성 손실 패턴이 집계구의 공간 환경 변수(SVF, 캐노피, 건물 형태)와 어떠한 관계를 갖는가?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연구 지역 및 데이터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999232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연구 지역: 서울특별시 성동구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19072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  <a:latin typeface="맑은 고딕"/>
              </a:rPr>
              <a:t>● 면적 16.86 km², 지하철역 7개소 (왕십리·행당·응봉·뚝섬·성수·서울숲·옥수)</a:t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>● 한강·중랑천 수변, 서울숲 녹지, 왕십리·성수 업무지구, 아파트 단지 혼재</a:t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>   → 열환경 공간 변이가 크고 보행 접근성 연구의 적절한 대상 지역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46120"/>
            <a:ext cx="1645920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분석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703320"/>
            <a:ext cx="6858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맑은 고딕"/>
              </a:rPr>
              <a:t>● 보행 네트워크: OpenStreetMap (osmnx) — 링크 15,608개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● 기상 데이터: 성동구 S-DoT 센서 57개소, 10분 간격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● 일사량: Open-Meteo archive (성동구 중심 단일 지점)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● 집계구 경계: 통계청 2016 기준 — 570개 집계구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● 대중교통 정류장: 지하철 7개 + 버스 482개 = 489개 (네트워크 노드 385개)</a:t>
            </a:r>
          </a:p>
          <a:p>
            <a:r>
              <a:rPr sz="1200" b="1">
                <a:solidFill>
                  <a:srgbClr val="1A1A1A"/>
                </a:solidFill>
                <a:latin typeface="맑은 고딕"/>
              </a:rPr>
              <a:t>● 분석 기간: 2025.07.28–08.03 폭염일 7일 평균 | 분석 시간대: 13시</a:t>
            </a:r>
          </a:p>
        </p:txBody>
      </p:sp>
      <p:pic>
        <p:nvPicPr>
          <p:cNvPr id="9" name="Picture 8" descr="00_SDot센서위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188720"/>
            <a:ext cx="4480560" cy="42221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79" y="545657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그림 1. S-DoT 기상 센서 위치 (n=57개)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방법론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822191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MRT 산출: SOLWEIG 약식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19072"/>
            <a:ext cx="7132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● Lindberg &amp; Grimmond (2011) SOLWEIG 모형 기반 — Python 직접 구현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200" b="1">
                <a:solidFill>
                  <a:srgbClr val="1A1A1A"/>
                </a:solidFill>
                <a:latin typeface="맑은 고딕"/>
              </a:rPr>
              <a:t>  Tmrt = [ (Ksw + Llw) / σ ]^0.25  − 273.15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 Ksw (단파복사): αp × [ (1-SVF)·Kdif + shadow·Kdir·cosθ + SVF·Kdif ]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 Llw (장파복사): εp × [ SVF·Lsky + (1-SVF)·Lwall ]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200" b="1">
                <a:solidFill>
                  <a:srgbClr val="1A1A1A"/>
                </a:solidFill>
                <a:latin typeface="맑은 고딕"/>
              </a:rPr>
              <a:t>● 주요 입력 변수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SVF (Sky View Factor): 0=완전차폐, 1=완전개방 — 건물 차폐 반영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GHI → DNI/DHI 분리: Erbs 모델 (Open-Meteo archive)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Shadow: 13시 태양 천정각 기반 그림자 마스크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Tair, RH, va: S-DoT 57개소 평균값 (폭염일 13시)</a:t>
            </a:r>
          </a:p>
        </p:txBody>
      </p:sp>
      <p:pic>
        <p:nvPicPr>
          <p:cNvPr id="7" name="Picture 6" descr="06_M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206240" cy="34815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489888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그림 2. 링크별 MRT 분포 (13시, 폭염일 평균)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방법론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138928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Thermal Catchment Area &amp; TARR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19072"/>
            <a:ext cx="1133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  <a:latin typeface="맑은 고딕"/>
              </a:rPr>
              <a:t>● Classic Catchment: 집계구 도심에서 15분 보행 내 도달 가능 정류장 수 (열환경 무시)</a:t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300" b="1">
                <a:solidFill>
                  <a:srgbClr val="1A1A1A"/>
                </a:solidFill>
                <a:latin typeface="맑은 고딕"/>
              </a:rPr>
              <a:t>● Thermal Catchment: MRT ≥ 임계값(°C) 링크를 제거한 네트워크에서 15분 이내 도달 정류장 수</a:t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>   → Hard Cut 가정: 보행자가 고온 링크를 완전히 회피</a:t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>   → Dijkstra 최단경로 → 정류장 도달 가능 여부 판단</a:t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300" b="1">
                <a:solidFill>
                  <a:srgbClr val="1A1A1A"/>
                </a:solidFill>
                <a:latin typeface="맑은 고딕"/>
              </a:rPr>
              <a:t>● TARR (Thermal Accessibility Reduction Rate, 열환경 접근성 감소율)</a:t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300" b="1">
                <a:solidFill>
                  <a:srgbClr val="1A1A1A"/>
                </a:solidFill>
                <a:latin typeface="맑은 고딕"/>
              </a:rPr>
              <a:t>   TARR = (Classic_cnt − Thermal_cnt) / Classic_cnt × 100  (%)</a:t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>   → TARR = 0%: 열환경 제약 없음 (폭염에도 정류장 접근 가능)</a:t>
            </a:r>
          </a:p>
          <a:p>
            <a:r>
              <a:rPr sz="1300" b="0">
                <a:solidFill>
                  <a:srgbClr val="1A1A1A"/>
                </a:solidFill>
                <a:latin typeface="맑은 고딕"/>
              </a:rPr>
              <a:t>   → TARR = 100%: 모든 정류장 접근 불가 (완전 차단)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방법론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151376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Monte Carlo 임계값 불확실성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19072"/>
            <a:ext cx="1133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● 왜 Monte Carlo? — MRT 임계값(55°C)의 물리적 불확실성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→ 기상 조건(기온·습도·풍속) 변동에 따라 "위험 MRT"는 ±수°C 변동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→ 단일값으로 고정하는 것은 불확실성 무시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200" b="1">
                <a:solidFill>
                  <a:srgbClr val="1A1A1A"/>
                </a:solidFill>
                <a:latin typeface="맑은 고딕"/>
              </a:rPr>
              <a:t>● 설계 (N=2,000 샘플)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Step 1. MRT 임계값 그리드 [45, 49, 51, 53, 55, 57, 59, 61, 65°C] × 집계구별 TARR 사전 계산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Step 2. threshold ~ N(μ=55, σ²=4²) 에서 2,000개 샘플링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Step 3. 집계구별 TARR(threshold) 선형 보간 → 샘플별 TARR 획득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Step 4. 집계구별 TARR 중앙값·95% CI 산출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200" b="1">
                <a:solidFill>
                  <a:srgbClr val="1A1A1A"/>
                </a:solidFill>
                <a:latin typeface="맑은 고딕"/>
              </a:rPr>
              <a:t>● 핵심 발견: S-curve (임계값 민감도 곡선)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→ 53~57°C 구간에서 TARR이 88% → 39%로 급변 (변곡점 = 55°C)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→ CI 폭이 넓은 것은 "불안정"이 아니라 이 민감 구간의 존재를 보여주는 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분석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599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MRT 임계값 민감도: S-curve</a:t>
            </a:r>
          </a:p>
        </p:txBody>
      </p:sp>
      <p:pic>
        <p:nvPicPr>
          <p:cNvPr id="6" name="Picture 5" descr="mc_threshold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772400" cy="48208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83895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그림 3. MRT 임계값 민감도 곡선 (집계구 평균 TARR, n=506)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417320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  <a:latin typeface="맑은 고딕"/>
              </a:rPr>
              <a:t>핵심 발견</a:t>
            </a:r>
          </a:p>
          <a:p>
            <a:r>
              <a:rPr sz="11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1A1A1A"/>
                </a:solidFill>
                <a:latin typeface="맑은 고딕"/>
              </a:rPr>
              <a:t>● 45°C → TARR ≈ 95%</a:t>
            </a:r>
          </a:p>
          <a:p>
            <a:r>
              <a:rPr sz="1100" b="0">
                <a:solidFill>
                  <a:srgbClr val="1A1A1A"/>
                </a:solidFill>
                <a:latin typeface="맑은 고딕"/>
              </a:rPr>
              <a:t>   (거의 모든 링크 차단)</a:t>
            </a:r>
          </a:p>
          <a:p>
            <a:r>
              <a:rPr sz="1100" b="1">
                <a:solidFill>
                  <a:srgbClr val="1A1A1A"/>
                </a:solidFill>
                <a:latin typeface="맑은 고딕"/>
              </a:rPr>
              <a:t>● 55°C → TARR ≈ 73%</a:t>
            </a:r>
          </a:p>
          <a:p>
            <a:r>
              <a:rPr sz="1100" b="0">
                <a:solidFill>
                  <a:srgbClr val="1A1A1A"/>
                </a:solidFill>
                <a:latin typeface="맑은 고딕"/>
              </a:rPr>
              <a:t>   (기준 임계값)</a:t>
            </a:r>
          </a:p>
          <a:p>
            <a:r>
              <a:rPr sz="1100" b="0">
                <a:solidFill>
                  <a:srgbClr val="1A1A1A"/>
                </a:solidFill>
                <a:latin typeface="맑은 고딕"/>
              </a:rPr>
              <a:t>● 65°C → TARR ≈ 5%</a:t>
            </a:r>
          </a:p>
          <a:p>
            <a:r>
              <a:rPr sz="1100" b="0">
                <a:solidFill>
                  <a:srgbClr val="1A1A1A"/>
                </a:solidFill>
                <a:latin typeface="맑은 고딕"/>
              </a:rPr>
              <a:t>   (거의 차단 없음)</a:t>
            </a:r>
          </a:p>
          <a:p>
            <a:r>
              <a:rPr sz="11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100" b="1">
                <a:solidFill>
                  <a:srgbClr val="1A1A1A"/>
                </a:solidFill>
                <a:latin typeface="맑은 고딕"/>
              </a:rPr>
              <a:t>● 53~57°C 구간에서</a:t>
            </a:r>
          </a:p>
          <a:p>
            <a:r>
              <a:rPr sz="1100" b="1">
                <a:solidFill>
                  <a:srgbClr val="1A1A1A"/>
                </a:solidFill>
                <a:latin typeface="맑은 고딕"/>
              </a:rPr>
              <a:t>  TARR 88%→39%로 급변</a:t>
            </a:r>
          </a:p>
          <a:p>
            <a:r>
              <a:rPr sz="1100" b="1">
                <a:solidFill>
                  <a:srgbClr val="1A1A1A"/>
                </a:solidFill>
                <a:latin typeface="맑은 고딕"/>
              </a:rPr>
              <a:t>  → S-curve 변곡점</a:t>
            </a:r>
          </a:p>
          <a:p>
            <a:r>
              <a:rPr sz="11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1A1A1A"/>
                </a:solidFill>
                <a:latin typeface="맑은 고딕"/>
              </a:rPr>
              <a:t>● 55°C = 변곡점 중심값</a:t>
            </a:r>
          </a:p>
          <a:p>
            <a:r>
              <a:rPr sz="1100" b="0">
                <a:solidFill>
                  <a:srgbClr val="1A1A1A"/>
                </a:solidFill>
                <a:latin typeface="맑은 고딕"/>
              </a:rPr>
              <a:t>  → 보수적 기준값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분석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163824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TARR 공간 분포 (집계구별)</a:t>
            </a:r>
          </a:p>
        </p:txBody>
      </p:sp>
      <p:pic>
        <p:nvPicPr>
          <p:cNvPr id="6" name="Picture 5" descr="tarr_spatia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576" y="1371600"/>
            <a:ext cx="6232367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5836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그림 4. 집계구별 TARR 공간 분포 (MRT 55°C 기준, 13시, 폭염일 평균, n=506)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분석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138928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Monte Carlo TARR 분포 (N=2,000)</a:t>
            </a:r>
          </a:p>
        </p:txBody>
      </p:sp>
      <p:pic>
        <p:nvPicPr>
          <p:cNvPr id="6" name="Picture 5" descr="mc_tar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4386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80393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그림 5. 집계구별 TARR 중앙값 분포 (좌) 및 95% CI 폭 분포 (우) — threshold~N(55, 4²)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94360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  <a:latin typeface="맑은 고딕"/>
              </a:rPr>
              <a:t>● TARR 중앙값 평균: 70.2%  |  95% CI 폭 평균: 39.0%p</a:t>
            </a:r>
          </a:p>
          <a:p>
            <a:r>
              <a:rPr sz="1100" b="0">
                <a:solidFill>
                  <a:srgbClr val="1A1A1A"/>
                </a:solidFill>
                <a:latin typeface="맑은 고딕"/>
              </a:rPr>
              <a:t>● CI 폭이 넓은 이유 = S-curve 민감 구간(53~57°C)이 샘플링 범위 안에 포함되기 때문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분석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986784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Monte Carlo 집계구별 공간 분포</a:t>
            </a:r>
          </a:p>
        </p:txBody>
      </p:sp>
      <p:pic>
        <p:nvPicPr>
          <p:cNvPr id="6" name="Picture 5" descr="mc_tarr_ci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31" y="1371600"/>
            <a:ext cx="11166457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5836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그림 6. 집계구별 TARR 중앙값(좌) 및 95% CI 폭(우) 공간 분포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분석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599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시간대별 비교 (9시·13시·18시)</a:t>
            </a:r>
          </a:p>
        </p:txBody>
      </p:sp>
      <p:pic>
        <p:nvPicPr>
          <p:cNvPr id="6" name="Picture 5" descr="tarr_3hou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379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210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그림 7. 시간대별 MRT 최댓값, 고온링크 비율, TARR 비교 (9시·13시·18시)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1A"/>
                </a:solidFill>
                <a:latin typeface="맑은 고딕"/>
              </a:rPr>
              <a:t>● 13시에 MRT·TARR 모두 최대 → 폭염 피크 시간대의 접근성 제약이 가장 심각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분석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493008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지하철역별 접근 가능 정류장 손실율</a:t>
            </a:r>
          </a:p>
        </p:txBody>
      </p:sp>
      <p:pic>
        <p:nvPicPr>
          <p:cNvPr id="6" name="Picture 5" descr="station_stop_los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3911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329191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그림 8. 지하철역별 Classic vs Thermal Catchment 접근 가능 정류장 수 및 손실율 (MRT 55°C, 13시)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분석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599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공간 환경 변수 × TARR 회귀분석</a:t>
            </a:r>
          </a:p>
        </p:txBody>
      </p:sp>
      <p:pic>
        <p:nvPicPr>
          <p:cNvPr id="6" name="Picture 5" descr="regress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23256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743009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그림 9. 공간 환경 변수 × TARR OLS 회귀 산점도 (n=506)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94360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1A"/>
                </a:solidFill>
                <a:latin typeface="맑은 고딕"/>
              </a:rPr>
              <a:t>● OLS R²=0.174 — hot_link_ratio (r=0.332***), SVF (r=0.295***), H/W (r=-0.208***)</a:t>
            </a:r>
          </a:p>
          <a:p>
            <a:r>
              <a:rPr sz="1100" b="0">
                <a:solidFill>
                  <a:srgbClr val="1A1A1A"/>
                </a:solidFill>
                <a:latin typeface="맑은 고딕"/>
              </a:rPr>
              <a:t>● 해석: MRT로 정량화된 열환경이 공간 환경과 관계 — 보조적 탐색 분석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한계점 및 향후 연구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859536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한계점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19072"/>
            <a:ext cx="11338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맑은 고딕"/>
              </a:rPr>
              <a:t>● 바람 속도 균일 가정: va=2.37 m/s 전 구간 동일 → 도시 협곡 내 풍속 변이 미반영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● GHI 단일 지점: 성동구 전체에 동일 GHI 적용 → 미세 공간 일사량 차이 무시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● MRT 실측 검증 없음: SOLWEIG 약식 추정값 — 복사계 실측 비교 미수행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● Hard Cut 행동 가정: 보행자가 고온 링크를 완전 회피한다는 가정의 실증 근거 부재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→ "물리적 열스트레스 임계값"으로 재해석하여 행동적 의미와 구분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● 집계구 도심 가정: 실제 거주민은 집계구 전역에 분포 → 도심 출발 가정은 근사치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● 분석 기간 일반화: 2025.07.28–08.03 단일 폭염 이벤트 (7일) — 사례 연구 수준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● OSM 네트워크 완전성: 지하도·실내 공조 구간 등 열환경 양호 경로 미포함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120640"/>
            <a:ext cx="2011680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향후 연구 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57784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맑은 고딕"/>
              </a:rPr>
              <a:t>● 노인 보행 속도(3.0 km/h) 분리 적용 → 고령 취약계층 접근성 분석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● QWEN 멀티모달 LLM 활용 거리뷰 영상 기반 MRT 추정 → SVF·그림자 자동 추출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● CFD 또는 다점 S-DoT 풍속 데이터 연계 → 바람 공간 변이 반영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6.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맑은 고딕"/>
              </a:rPr>
              <a:t>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694944" cy="32918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19072"/>
            <a:ext cx="11338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● 개념 제안: Thermal Catchment Area — 폭염 시 MRT Hard Cut을 적용한 새로운 보행 접근성 공간 단위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→ 기존 Catchment가 무시해온 열환경 제약을 공간 단위 자체에 내재화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200" b="1">
                <a:solidFill>
                  <a:srgbClr val="1A1A1A"/>
                </a:solidFill>
                <a:latin typeface="맑은 고딕"/>
              </a:rPr>
              <a:t>● 실증 결과 (성동구, MRT 55°C 기준, 13시)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→ 집계구 평균 TARR 73.3% — 폭염 시 약 73%의 정류장 접근 기회가 상실됨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→ 서울숲역 80.0%, 행당역 77.6% 등 역별 손실율 차이 확인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200" b="1">
                <a:solidFill>
                  <a:srgbClr val="1A1A1A"/>
                </a:solidFill>
                <a:latin typeface="맑은 고딕"/>
              </a:rPr>
              <a:t>● 핵심 방법론적 기여: S-curve 발견 + Monte Carlo 불확실성 정량화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→ 53~57°C 구간에서 TARR 88%→39% 급변 — 임계값 선택이 결과에 결정적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→ Monte Carlo (N=2,000)로 임계값 불확실성을 확률적으로 전파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r>
              <a:rPr sz="1200" b="1">
                <a:solidFill>
                  <a:srgbClr val="1A1A1A"/>
                </a:solidFill>
                <a:latin typeface="맑은 고딕"/>
              </a:rPr>
              <a:t>● 정책적 함의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→ 폭염 취약 집계구(TARR 고지역)를 우선 쿨링 인프라 정비 대상으로 식별 가능</a:t>
            </a:r>
          </a:p>
          <a:p>
            <a:r>
              <a:rPr sz="1200" b="0">
                <a:solidFill>
                  <a:srgbClr val="1A1A1A"/>
                </a:solidFill>
                <a:latin typeface="맑은 고딕"/>
              </a:rPr>
              <a:t>   → Thermal Catchment는 기후 적응형 도시 접근성 계획의 공간 기준 단위로 활용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92240"/>
            <a:ext cx="11457432" cy="18288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