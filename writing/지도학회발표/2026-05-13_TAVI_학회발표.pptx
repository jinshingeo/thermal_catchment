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안녕하세요. 경희대학교 기후사회과학융합학과 석사과정 신진입니다.</a:t>
            </a:r>
          </a:p>
          <a:p>
            <a:r>
              <a:t>오늘 발표할 주제는 'Thermal Catchment Area'입니다.</a:t>
            </a:r>
          </a:p>
          <a:p/>
          <a:p>
            <a:r>
              <a:t>폭염이 심해지는 여름철, 우리가 지하철역에 걸어서 갈 수 있는 범위가 열환경에 의해 실제로 줄어든다는 점에 착안하여,</a:t>
            </a:r>
          </a:p>
          <a:p>
            <a:r>
              <a:t>MRT(평균복사온도)를 기반으로 한 새로운 보행 접근성 공간 단위를 제안하고,</a:t>
            </a:r>
          </a:p>
          <a:p>
            <a:r>
              <a:t>그 임계값의 불확실성을 Monte Carlo 방법으로 정량화한 연구를 소개드리겠습니다.</a:t>
            </a:r>
          </a:p>
          <a:p>
            <a:r>
              <a:t>발표 시간은 약 15분입니다.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목차를 간략히 소개드리겠습니다.</a:t>
            </a:r>
          </a:p>
          <a:p>
            <a:r>
              <a:t>먼저 연구 배경과 목적, 연구 지역과 데이터를 설명드리고,</a:t>
            </a:r>
          </a:p>
          <a:p>
            <a:r>
              <a:t>방법론 파트에서는 MRT 산출 방법, Thermal Catchment 개념, 그리고 Monte Carlo 설계를 설명드립니다.</a:t>
            </a:r>
          </a:p>
          <a:p>
            <a:r>
              <a:t>분석 결과에서는 S-curve 발견, TARR 공간 분포, 시간대별 비교, 회귀분석 순으로 보여드리겠습니다.</a:t>
            </a:r>
          </a:p>
          <a:p>
            <a:r>
              <a:t>마지막으로 한계점과 결론으로 마무리하겠습니다.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우리가 흔히 역세권 분석에서 사용하는 Catchment Area, 즉 역에서 걸어서 갈 수 있는 범위는</a:t>
            </a:r>
          </a:p>
          <a:p>
            <a:r>
              <a:t>물리적 거리나 시간만을 기준으로 합니다.</a:t>
            </a:r>
          </a:p>
          <a:p>
            <a:r>
              <a:t>그런데 폭염이 심한 여름철에는 어떨까요?</a:t>
            </a:r>
          </a:p>
          <a:p>
            <a:r>
              <a:t>사람들이 뜨거운 햇볕이 내리쬐는 길을 피해 다른 경로를 선택하거나, 아예 포기하는 경우가 생깁니다.</a:t>
            </a:r>
          </a:p>
          <a:p>
            <a:r>
              <a:t>UTCI 38°C 이상은 국제 기준으로 "매우 강한 열 스트레스" 단계로, 이 조건에서 보행은 건강에 심각한 위험입니다.</a:t>
            </a:r>
          </a:p>
          <a:p>
            <a:r>
              <a:t>그런데 기존 연구 어디에도 이 열환경 제약을 공간 단위 자체에 반영한 연구는 없습니다.</a:t>
            </a:r>
          </a:p>
          <a:p>
            <a:r>
              <a:t>이것이 바로 저희 연구가 출발한 지점입니다.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연구 목적은 세 가지입니다.</a:t>
            </a:r>
          </a:p>
          <a:p>
            <a:r>
              <a:t>첫째, Thermal Catchment Area라는 새로운 공간 단위 개념을 제안합니다.</a:t>
            </a:r>
          </a:p>
          <a:p>
            <a:r>
              <a:t>둘째, 서울 성동구를 대상으로 실제 데이터로 검증합니다.</a:t>
            </a:r>
          </a:p>
          <a:p>
            <a:r>
              <a:t>셋째, 임계값이 얼마냐에 따라 결과가 얼마나 달라지는지를 Monte Carlo로 정량화합니다.</a:t>
            </a:r>
          </a:p>
          <a:p/>
          <a:p>
            <a:r>
              <a:t>연구 질문도 이 세 가지에 대응합니다.</a:t>
            </a:r>
          </a:p>
          <a:p>
            <a:r>
              <a:t>첫 번째 질문은 폭염 시 실제로 정류장 접근이 얼마나 줄어드는가,</a:t>
            </a:r>
          </a:p>
          <a:p>
            <a:r>
              <a:t>두 번째는 임계값이 불확실할 때 그 결과의 범위가 어느 정도인가,</a:t>
            </a:r>
          </a:p>
          <a:p>
            <a:r>
              <a:t>세 번째는 어떤 공간 환경에서 접근성 손실이 더 크게 나타나는가입니다.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연구 지역은 서울 성동구입니다.</a:t>
            </a:r>
          </a:p>
          <a:p>
            <a:r>
              <a:t>성동구는 서울숲, 한강, 중랑천 등 녹지와 수변 공간이 있는 반면,</a:t>
            </a:r>
          </a:p>
          <a:p>
            <a:r>
              <a:t>왕십리·성수 등 고밀도 업무지구와 아파트 단지도 혼재하여</a:t>
            </a:r>
          </a:p>
          <a:p>
            <a:r>
              <a:t>열환경이 공간적으로 매우 다양합니다.</a:t>
            </a:r>
          </a:p>
          <a:p>
            <a:r>
              <a:t>그래서 Thermal Catchment가 공간적으로 어떻게 달라지는지 보기에 최적의 연구 지역입니다.</a:t>
            </a:r>
          </a:p>
          <a:p/>
          <a:p>
            <a:r>
              <a:t>오른쪽 그림은 분석에 활용한 S-DoT 기상 센서 57개소의 위치입니다.</a:t>
            </a:r>
          </a:p>
          <a:p>
            <a:r>
              <a:t>성동구 전역에 약 300~500m 간격으로 설치되어 있고,</a:t>
            </a:r>
          </a:p>
          <a:p>
            <a:r>
              <a:t>이 센서에서 기온, 상대습도, 풍속을 수집해 MRT 계산에 활용했습니다.</a:t>
            </a:r>
          </a:p>
          <a:p>
            <a:r>
              <a:t>대중교통 정류장은 총 489개이며, 보행 네트워크 노드 기준으로는 385개를 사용했습니다.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방법론의 첫 번째 단계는 MRT 산출입니다.</a:t>
            </a:r>
          </a:p>
          <a:p>
            <a:r>
              <a:t>MRT, 즉 평균복사온도는 보행자가 사방에서 받는 복사 에너지를 통합한 지표로,</a:t>
            </a:r>
          </a:p>
          <a:p>
            <a:r>
              <a:t>열 스트레스 체감에 가장 큰 영향을 주는 요소입니다.</a:t>
            </a:r>
          </a:p>
          <a:p/>
          <a:p>
            <a:r>
              <a:t>저희는 SOLWEIG 모형을 Python으로 직접 구현해서</a:t>
            </a:r>
          </a:p>
          <a:p>
            <a:r>
              <a:t>보행 네트워크 링크 1만 5천여 개 각각에 대해 MRT를 산출했습니다.</a:t>
            </a:r>
          </a:p>
          <a:p/>
          <a:p>
            <a:r>
              <a:t>가장 중요한 변수는 SVF입니다.</a:t>
            </a:r>
          </a:p>
          <a:p>
            <a:r>
              <a:t>SVF가 낮을수록 건물이 하늘을 많이 가린다는 의미이고,</a:t>
            </a:r>
          </a:p>
          <a:p>
            <a:r>
              <a:t>그만큼 직사광선도 차단되어 MRT가 낮아집니다.</a:t>
            </a:r>
          </a:p>
          <a:p>
            <a:r>
              <a:t>오른쪽 그림을 보시면, 건물이 밀집한 구역의 링크들은 MRT가 상대적으로 낮고,</a:t>
            </a:r>
          </a:p>
          <a:p>
            <a:r>
              <a:t>한강변이나 서울숲 주변 개방 구역은 MRT가 높게 나타나는 것을 확인할 수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두 번째 단계는 Thermal Catchment Area 개념 정의입니다.</a:t>
            </a:r>
          </a:p>
          <a:p/>
          <a:p>
            <a:r>
              <a:t>기존의 Classic Catchment는 4.5 km/h 보행 속도로 15분 안에 갈 수 있는 정류장 수를 셉니다.</a:t>
            </a:r>
          </a:p>
          <a:p>
            <a:r>
              <a:t>여기에 열환경 제약을 추가한 것이 Thermal Catchment입니다.</a:t>
            </a:r>
          </a:p>
          <a:p>
            <a:r>
              <a:t>MRT가 임계값 이상인 링크를 네트워크에서 완전히 제거한 뒤,</a:t>
            </a:r>
          </a:p>
          <a:p>
            <a:r>
              <a:t>남은 네트워크로만 15분 내 도달 가능한 정류장을 세는 방식입니다.</a:t>
            </a:r>
          </a:p>
          <a:p/>
          <a:p>
            <a:r>
              <a:t>이때 "제거"하는 방식, 즉 Hard Cut은 보행자가 뜨거운 길을 완전히 피해 돌아간다는 가정입니다.</a:t>
            </a:r>
          </a:p>
          <a:p/>
          <a:p>
            <a:r>
              <a:t>두 값의 차이를 기존 값으로 나누어 퍼센트로 표현한 것이 TARR입니다.</a:t>
            </a:r>
          </a:p>
          <a:p>
            <a:r>
              <a:t>TARR이 클수록 폭염 시 접근성 손실이 크다는 의미로,</a:t>
            </a:r>
          </a:p>
          <a:p>
            <a:r>
              <a:t>이 값이 높은 집계구가 바로 폭염 취약 지역입니다.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세 번째 단계는 Monte Carlo를 이용한 임계값 불확실성 분석입니다.</a:t>
            </a:r>
          </a:p>
          <a:p/>
          <a:p>
            <a:r>
              <a:t>55°C라는 임계값은 UTCI 38°C 역산 등으로 설정했지만, 이 값 자체가 확실한 것은 아닙니다.</a:t>
            </a:r>
          </a:p>
          <a:p>
            <a:r>
              <a:t>기상 조건이 조금만 달라져도 "위험 MRT"는 변합니다.</a:t>
            </a:r>
          </a:p>
          <a:p>
            <a:r>
              <a:t>그래서 임계값을 평균 55°C, 표준편차 4°C인 정규분포에서 2천 개 샘플링해서,</a:t>
            </a:r>
          </a:p>
          <a:p>
            <a:r>
              <a:t>각 샘플마다 TARR을 계산하는 방식입니다.</a:t>
            </a:r>
          </a:p>
          <a:p/>
          <a:p>
            <a:r>
              <a:t>구체적으로는 9개 임계값 지점에서 TARR을 먼저 계산해두고,</a:t>
            </a:r>
          </a:p>
          <a:p>
            <a:r>
              <a:t>샘플링한 임계값에 대해 선형 보간으로 TARR을 추정합니다.</a:t>
            </a:r>
          </a:p>
          <a:p>
            <a:r>
              <a:t>이렇게 하면 집계구마다 2천 개의 TARR 값이 생기고,</a:t>
            </a:r>
          </a:p>
          <a:p>
            <a:r>
              <a:t>그 분포의 중앙값과 95% 신뢰구간을 결과로 제시합니다.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이것이 이번 연구에서 발견한 가장 중요한 결과입니다: S-curve입니다.</a:t>
            </a:r>
          </a:p>
          <a:p/>
          <a:p>
            <a:r>
              <a:t>S자 형태의 반응 곡선을 보면,</a:t>
            </a:r>
          </a:p>
          <a:p>
            <a:r>
              <a:t>45°C에서는 TARR이 95%로 거의 모든 정류장에 접근 불가,</a:t>
            </a:r>
          </a:p>
          <a:p>
            <a:r>
              <a:t>65°C에서는 5%로 거의 제약 없음인데,</a:t>
            </a:r>
          </a:p>
          <a:p>
            <a:r>
              <a:t>그 중간인 53~57°C 구간에서 TARR이 88%에서 39%로 급격히 떨어집니다.</a:t>
            </a:r>
          </a:p>
          <a:p>
            <a:r>
              <a:t>2°C 차이에 49%p 변동이 일어나는 것입니다.</a:t>
            </a:r>
          </a:p>
          <a:p/>
          <a:p>
            <a:r>
              <a:t>이것이 S-curve의 변곡점이고, 55°C는 그 중심값입니다.</a:t>
            </a:r>
          </a:p>
          <a:p/>
          <a:p>
            <a:r>
              <a:t>Monte Carlo에서 CI 폭이 넓게 나온 것도 바로 이 때문입니다.</a:t>
            </a:r>
          </a:p>
          <a:p>
            <a:r>
              <a:t>CI가 넓다는 것은 결과가 불안정하다는 의미가 아니라,</a:t>
            </a:r>
          </a:p>
          <a:p>
            <a:r>
              <a:t>이 민감 구간이 존재한다는 것, 즉 55°C 주변에서 임계값 선택이 결과에 결정적 영향을 미친다는 것을 보여줍니다.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지도는 집계구별 TARR의 공간 분포입니다.</a:t>
            </a:r>
          </a:p>
          <a:p>
            <a:r>
              <a:t>색이 짙을수록 폭염 시 접근성 손실이 크다는 의미입니다.</a:t>
            </a:r>
          </a:p>
          <a:p/>
          <a:p>
            <a:r>
              <a:t>성동구 전체 평균 TARR은 73.3%로,</a:t>
            </a:r>
          </a:p>
          <a:p>
            <a:r>
              <a:t>폭염 피크 시간인 13시에 평균적으로 73%의 정류장 접근 기회가 사라집니다.</a:t>
            </a:r>
          </a:p>
          <a:p/>
          <a:p>
            <a:r>
              <a:t>공간 패턴을 보면,</a:t>
            </a:r>
          </a:p>
          <a:p>
            <a:r>
              <a:t>한강변이나 서울숲 주변 개방된 구간은 TARR이 높고,</a:t>
            </a:r>
          </a:p>
          <a:p>
            <a:r>
              <a:t>건물이 밀집한 구간은 상대적으로 낮습니다.</a:t>
            </a:r>
          </a:p>
          <a:p>
            <a:r>
              <a:t>이는 개방된 구간일수록 MRT가 높아 더 많은 링크가 차단되기 때문입니다.</a:t>
            </a:r>
          </a:p>
          <a:p/>
          <a:p>
            <a:r>
              <a:t>또한 지도에서 같은 색의 집계구들이 공간적으로 뭉쳐있는 경향이 보이는데,</a:t>
            </a:r>
          </a:p>
          <a:p>
            <a:r>
              <a:t>이는 공간 자기상관(spatial autocorrelation)이 존재한다는 것을 시사합니다.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Monte Carlo 결과입니다.</a:t>
            </a:r>
          </a:p>
          <a:p>
            <a:r>
              <a:t>왼쪽 히스토그램은 집계구별 TARR 중앙값의 분포를 보여줍니다.</a:t>
            </a:r>
          </a:p>
          <a:p>
            <a:r>
              <a:t>평균 70.2%로, 대부분의 집계구가 60~90% 구간에 몰려 있습니다.</a:t>
            </a:r>
          </a:p>
          <a:p/>
          <a:p>
            <a:r>
              <a:t>오른쪽은 95% CI 폭의 분포입니다.</a:t>
            </a:r>
          </a:p>
          <a:p>
            <a:r>
              <a:t>평균 39%p로, 임계값을 정확히 모를 때 TARR 추정치가 약 40%p 정도 달라질 수 있음을 의미합니다.</a:t>
            </a:r>
          </a:p>
          <a:p/>
          <a:p>
            <a:r>
              <a:t>여기서 CI 폭이 넓다고 해서 분석이 잘못된 것이 아닙니다.</a:t>
            </a:r>
          </a:p>
          <a:p>
            <a:r>
              <a:t>앞서 본 S-curve에서 53~57°C 구간에 2°C만 차이 나도 TARR이 50%p 가까이 변하는데,</a:t>
            </a:r>
          </a:p>
          <a:p>
            <a:r>
              <a:t>Monte Carlo 샘플이 바로 이 민감 구간을 통과하기 때문에 CI가 넓어진 것입니다.</a:t>
            </a:r>
          </a:p>
          <a:p>
            <a:r>
              <a:t>이 자체가 "55°C 주변에서 임계값 선택이 결정적으로 중요하다"는 발견입니다.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그림은 Monte Carlo 결과를 공간적으로 표현한 것입니다.</a:t>
            </a:r>
          </a:p>
          <a:p>
            <a:r>
              <a:t>왼쪽은 TARR 중앙값, 오른쪽은 95% CI 폭입니다.</a:t>
            </a:r>
          </a:p>
          <a:p/>
          <a:p>
            <a:r>
              <a:t>CI 폭이 넓은 집계구를 보면,</a:t>
            </a:r>
          </a:p>
          <a:p>
            <a:r>
              <a:t>임계값 변화에 특히 민감한 위치, 즉 S-curve 경사 구간에 위치한 링크 비율이 높은 곳입니다.</a:t>
            </a:r>
          </a:p>
          <a:p>
            <a:r>
              <a:t>반대로 CI 폭이 좁은 집계구는 어떤 임계값을 쓰더라도 결과가 비슷하게 나오는 곳입니다.</a:t>
            </a:r>
          </a:p>
          <a:p>
            <a:r>
              <a:t>이런 공간 패턴 자체도 정책적으로 의미가 있습니다.</a:t>
            </a:r>
          </a:p>
          <a:p>
            <a:r>
              <a:t>CI 폭이 넓은 집계구일수록 임계값 결정이 접근성 분석 결과에 크게 영향을 미치므로,</a:t>
            </a:r>
          </a:p>
          <a:p>
            <a:r>
              <a:t>더 정밀한 MRT 관측이 필요한 우선 지역으로 볼 수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그림은 9시, 13시, 18시 세 시간대를 비교한 결과입니다.</a:t>
            </a:r>
          </a:p>
          <a:p>
            <a:r>
              <a:t>세 패널 모두 13시에 가장 극단적인 값을 보입니다.</a:t>
            </a:r>
          </a:p>
          <a:p>
            <a:r>
              <a:t>MRT가 가장 높고, 고온링크 비율도 가장 높으며, TARR도 가장 큽니다.</a:t>
            </a:r>
          </a:p>
          <a:p>
            <a:r>
              <a:t>이것은 태양 복사가 최대인 13시에 폭염으로 인한 보행 접근성 제약이 가장 심각하다는 것을 보여줍니다.</a:t>
            </a:r>
          </a:p>
          <a:p>
            <a:r>
              <a:t>9시는 아직 MRT가 낮아서 거의 제약이 없고,</a:t>
            </a:r>
          </a:p>
          <a:p>
            <a:r>
              <a:t>18시는 조금씩 회복되는 단계입니다.</a:t>
            </a:r>
          </a:p>
          <a:p>
            <a:r>
              <a:t>이 비교는 우리가 13시를 분석 기준 시간대로 선택한 이유를 뒷받침합니다.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표는 성동구 지하철역 7개소 각각에서 Thermal Catchment를 적용했을 때</a:t>
            </a:r>
          </a:p>
          <a:p>
            <a:r>
              <a:t>접근 가능한 정류장이 얼마나 줄어드는지를 보여줍니다.</a:t>
            </a:r>
          </a:p>
          <a:p/>
          <a:p>
            <a:r>
              <a:t>서울숲역은 80.0%, 행당역은 77.6%로 손실율이 높습니다.</a:t>
            </a:r>
          </a:p>
          <a:p>
            <a:r>
              <a:t>반면 다른 역들은 상대적으로 낮은데,</a:t>
            </a:r>
          </a:p>
          <a:p>
            <a:r>
              <a:t>이는 역 주변 도로망 구성과 건물 차폐 패턴이 다르기 때문입니다.</a:t>
            </a:r>
          </a:p>
          <a:p/>
          <a:p>
            <a:r>
              <a:t>이런 역별 차이는 정책적으로 의미가 있습니다.</a:t>
            </a:r>
          </a:p>
          <a:p>
            <a:r>
              <a:t>손실율이 높은 역일수록 폭염 시 환승이나 접근이 더 어렵고,</a:t>
            </a:r>
          </a:p>
          <a:p>
            <a:r>
              <a:t>쿨링 인프라나 그늘막 등의 우선 설치 대상이 될 수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마지막 결과로 공간 환경 변수와 TARR의 관계를 OLS 회귀로 탐색했습니다.</a:t>
            </a:r>
          </a:p>
          <a:p/>
          <a:p>
            <a:r>
              <a:t>전체 설명력 R²는 0.174로 높지 않지만,</a:t>
            </a:r>
          </a:p>
          <a:p>
            <a:r>
              <a:t>방향성은 물리적으로 타당합니다.</a:t>
            </a:r>
          </a:p>
          <a:p>
            <a:r>
              <a:t>고온링크 비율이 높은 집계구, SVF가 높은 개방된 집계구에서 TARR이 높고,</a:t>
            </a:r>
          </a:p>
          <a:p>
            <a:r>
              <a:t>건물 협곡비가 높아 그늘이 많은 곳에서는 TARR이 낮습니다.</a:t>
            </a:r>
          </a:p>
          <a:p/>
          <a:p>
            <a:r>
              <a:t>이 회귀분석은 MRT 방법론의 근거가 아니라 보조적 탐색입니다.</a:t>
            </a:r>
          </a:p>
          <a:p>
            <a:r>
              <a:t>MRT 활용의 타당성은 SOLWEIG 등 기존 선행연구로 뒷받침하고,</a:t>
            </a:r>
          </a:p>
          <a:p>
            <a:r>
              <a:t>이 분석은 "어떤 공간 환경이 접근성 손실을 더 크게 만드는가"를 보여주는 부수 결과입니다.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연구의 한계점을 솔직하게 밝히겠습니다.</a:t>
            </a:r>
          </a:p>
          <a:p/>
          <a:p>
            <a:r>
              <a:t>가장 큰 한계는 바람 속도를 전 구간 동일하게 적용한 것입니다.</a:t>
            </a:r>
          </a:p>
          <a:p>
            <a:r>
              <a:t>실제 도시에서는 건물 배치에 따라 풍속이 크게 달라지는데, 이를 반영하지 못했습니다.</a:t>
            </a:r>
          </a:p>
          <a:p/>
          <a:p>
            <a:r>
              <a:t>또한 MRT를 실제 측정값과 비교 검증하지 못한 점,</a:t>
            </a:r>
          </a:p>
          <a:p>
            <a:r>
              <a:t>그리고 분석 기간이 7일 단일 폭염 이벤트에 한정된 점도 한계입니다.</a:t>
            </a:r>
          </a:p>
          <a:p/>
          <a:p>
            <a:r>
              <a:t>향후 연구로는 고령자 보행 속도를 분리해서 취약계층 분석,</a:t>
            </a:r>
          </a:p>
          <a:p>
            <a:r>
              <a:t>QWEN 같은 멀티모달 AI를 이용한 거리뷰 영상 기반 MRT 추정 자동화,</a:t>
            </a:r>
          </a:p>
          <a:p>
            <a:r>
              <a:t>그리고 TARR이 높은 집계구에 쿨링 인프라를 최적 배치하는 시뮬레이션 등을 계획하고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결론을 말씀드리겠습니다.</a:t>
            </a:r>
          </a:p>
          <a:p/>
          <a:p>
            <a:r>
              <a:t>이 연구는 세 가지 기여를 합니다.</a:t>
            </a:r>
          </a:p>
          <a:p/>
          <a:p>
            <a:r>
              <a:t>첫째, Thermal Catchment Area라는 새로운 공간 단위 개념을 제안했습니다.</a:t>
            </a:r>
          </a:p>
          <a:p>
            <a:r>
              <a:t>폭염 때 MRT가 높은 길을 피하면 실제로 갈 수 있는 정류장이 줄어드는데,</a:t>
            </a:r>
          </a:p>
          <a:p>
            <a:r>
              <a:t>이것을 공간 단위로 정의하고 측정한 것입니다.</a:t>
            </a:r>
          </a:p>
          <a:p/>
          <a:p>
            <a:r>
              <a:t>둘째, 서울 성동구에서 실증한 결과, 폭염 피크 시간인 13시에 평균 73%의 정류장 접근 기회가 사라졌습니다.</a:t>
            </a:r>
          </a:p>
          <a:p>
            <a:r>
              <a:t>역별로도 차이가 있어서 서울숲역이 가장 심각합니다.</a:t>
            </a:r>
          </a:p>
          <a:p/>
          <a:p>
            <a:r>
              <a:t>셋째, S-curve라는 중요한 발견과 Monte Carlo로 불확실성을 정량화했습니다.</a:t>
            </a:r>
          </a:p>
          <a:p>
            <a:r>
              <a:t>53~57°C 구간이 임계값 선택의 변곡점이며,</a:t>
            </a:r>
          </a:p>
          <a:p>
            <a:r>
              <a:t>Monte Carlo 결과가 단일값 결과와 근접하여 55°C 기준의 robustness를 확인했습니다.</a:t>
            </a:r>
          </a:p>
          <a:p/>
          <a:p>
            <a:r>
              <a:t>정책적으로는 TARR이 높은 집계구를 우선 쿨링 인프라 설치 대상으로 식별하고,</a:t>
            </a:r>
          </a:p>
          <a:p>
            <a:r>
              <a:t>기후 적응형 도시 계획의 공간 기준으로 활용할 수 있습니다.</a:t>
            </a:r>
          </a:p>
          <a:p/>
          <a:p>
            <a:r>
              <a:t>감사합니다.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  <a:latin typeface="맑은 고딕"/>
              </a:rPr>
              <a:t>한국지도학회 학술대회 발표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7498079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1A"/>
                </a:solidFill>
                <a:latin typeface="맑은 고딕"/>
              </a:rPr>
              <a:t>Thermal Catchment Area:
MRT 기반 확률적 임계값과 Monte Carlo 접근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926080"/>
            <a:ext cx="749807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  <a:latin typeface="맑은 고딕"/>
              </a:rPr>
              <a:t>폭염을 반영한 보행 대중교통 접근성 공간 단위 제안 — 서울 성동구 사례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0" y="46634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맑은 고딕"/>
              </a:rPr>
              <a:t>신진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0" y="507492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맑은 고딕"/>
              </a:rPr>
              <a:t>경희대학교 기후사회과학융합학과 석사과정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544068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맑은 고딕"/>
              </a:rPr>
              <a:t>2026. 05. 30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263640"/>
            <a:ext cx="11457432" cy="18288"/>
          </a:xfrm>
          <a:prstGeom prst="rect">
            <a:avLst/>
          </a:prstGeom>
          <a:solidFill>
            <a:srgbClr val="B222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arr_spatial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57200"/>
            <a:ext cx="3749039" cy="310779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3657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A1A1A"/>
                </a:solidFill>
                <a:latin typeface="맑은 고딕"/>
              </a:rPr>
              <a:t>목차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749808"/>
            <a:ext cx="11457432" cy="18288"/>
          </a:xfrm>
          <a:prstGeom prst="rect">
            <a:avLst/>
          </a:prstGeom>
          <a:solidFill>
            <a:srgbClr val="B222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1005840"/>
            <a:ext cx="73152" cy="329184"/>
          </a:xfrm>
          <a:prstGeom prst="rect">
            <a:avLst/>
          </a:prstGeom>
          <a:solidFill>
            <a:srgbClr val="B222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2011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B22234"/>
                </a:solidFill>
                <a:latin typeface="맑은 고딕"/>
              </a:rPr>
              <a:t>Chapter 1.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0" y="1005840"/>
            <a:ext cx="8961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맑은 고딕"/>
              </a:rPr>
              <a:t>연구 배경 및 목적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874519"/>
            <a:ext cx="73152" cy="329184"/>
          </a:xfrm>
          <a:prstGeom prst="rect">
            <a:avLst/>
          </a:prstGeom>
          <a:solidFill>
            <a:srgbClr val="B222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874519"/>
            <a:ext cx="2011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B22234"/>
                </a:solidFill>
                <a:latin typeface="맑은 고딕"/>
              </a:rPr>
              <a:t>Chapter 2.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60320" y="1874519"/>
            <a:ext cx="8961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맑은 고딕"/>
              </a:rPr>
              <a:t>연구 지역 및 데이터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2743200"/>
            <a:ext cx="73152" cy="329184"/>
          </a:xfrm>
          <a:prstGeom prst="rect">
            <a:avLst/>
          </a:prstGeom>
          <a:solidFill>
            <a:srgbClr val="B222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743200"/>
            <a:ext cx="2011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B22234"/>
                </a:solidFill>
                <a:latin typeface="맑은 고딕"/>
              </a:rPr>
              <a:t>Chapter 3.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60320" y="2743200"/>
            <a:ext cx="8961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맑은 고딕"/>
              </a:rPr>
              <a:t>방법론 — MRT 산출 · Thermal Catchment · Monte Carlo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3611879"/>
            <a:ext cx="73152" cy="329184"/>
          </a:xfrm>
          <a:prstGeom prst="rect">
            <a:avLst/>
          </a:prstGeom>
          <a:solidFill>
            <a:srgbClr val="B222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3611879"/>
            <a:ext cx="2011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B22234"/>
                </a:solidFill>
                <a:latin typeface="맑은 고딕"/>
              </a:rPr>
              <a:t>Chapter 4.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60320" y="3611879"/>
            <a:ext cx="8961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맑은 고딕"/>
              </a:rPr>
              <a:t>분석 결과 — S-curve · 공간 분포 · 시간대 비교 · 회귀분석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4480560"/>
            <a:ext cx="73152" cy="329184"/>
          </a:xfrm>
          <a:prstGeom prst="rect">
            <a:avLst/>
          </a:prstGeom>
          <a:solidFill>
            <a:srgbClr val="B222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4480560"/>
            <a:ext cx="2011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B22234"/>
                </a:solidFill>
                <a:latin typeface="맑은 고딕"/>
              </a:rPr>
              <a:t>Chapter 5.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60320" y="4480560"/>
            <a:ext cx="8961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맑은 고딕"/>
              </a:rPr>
              <a:t>한계점 및 향후 연구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5349240"/>
            <a:ext cx="73152" cy="329184"/>
          </a:xfrm>
          <a:prstGeom prst="rect">
            <a:avLst/>
          </a:prstGeom>
          <a:solidFill>
            <a:srgbClr val="B222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5349240"/>
            <a:ext cx="2011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B22234"/>
                </a:solidFill>
                <a:latin typeface="맑은 고딕"/>
              </a:rPr>
              <a:t>Chapter 6.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60320" y="5349240"/>
            <a:ext cx="8961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맑은 고딕"/>
              </a:rPr>
              <a:t>결론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22234"/>
                </a:solidFill>
                <a:latin typeface="맑은 고딕"/>
              </a:rPr>
              <a:t>Chapter 1.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47548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A1A1A"/>
                </a:solidFill>
                <a:latin typeface="맑은 고딕"/>
              </a:rPr>
              <a:t>연구 배경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78992"/>
            <a:ext cx="11457432" cy="18288"/>
          </a:xfrm>
          <a:prstGeom prst="rect">
            <a:avLst/>
          </a:prstGeom>
          <a:solidFill>
            <a:srgbClr val="B222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234440"/>
            <a:ext cx="2715768" cy="329184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기존 접근성 분석의 한계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719072"/>
            <a:ext cx="113385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A1A1A"/>
                </a:solidFill>
                <a:latin typeface="맑은 고딕"/>
              </a:rPr>
              <a:t>● 역세권 Catchment Area는 보행 네트워크의 물리적 거리·시간만을 기준으로 정의됩니다.</a:t>
            </a:r>
          </a:p>
          <a:p>
            <a:r>
              <a:rPr sz="1200" b="0">
                <a:solidFill>
                  <a:srgbClr val="1A1A1A"/>
                </a:solidFill>
                <a:latin typeface="맑은 고딕"/>
              </a:rPr>
              <a:t>   → 보행자가 균질한 환경에서 이동한다는 암묵적 가정에 기반합니다.</a:t>
            </a:r>
          </a:p>
          <a:p>
            <a:r>
              <a:rPr sz="1200" b="0">
                <a:solidFill>
                  <a:srgbClr val="1A1A1A"/>
                </a:solidFill>
                <a:latin typeface="맑은 고딕"/>
              </a:rPr>
              <a:t>   → 도로 유형, 경사, 기상 조건 등 실제 보행 환경의 이질성을 전혀 반영하지 못합니다.</a:t>
            </a:r>
          </a:p>
          <a:p>
            <a:r>
              <a:rPr sz="1200" b="0">
                <a:solidFill>
                  <a:srgbClr val="1A1A1A"/>
                </a:solidFill>
                <a:latin typeface="맑은 고딕"/>
              </a:rPr>
              <a:t/>
            </a:r>
          </a:p>
          <a:p>
            <a:r>
              <a:rPr sz="1200" b="1">
                <a:solidFill>
                  <a:srgbClr val="1A1A1A"/>
                </a:solidFill>
                <a:latin typeface="맑은 고딕"/>
              </a:rPr>
              <a:t>● 기후변화로 인해 도시 폭염의 빈도와 강도가 지속적으로 증가하고 있습니다.</a:t>
            </a:r>
          </a:p>
          <a:p>
            <a:r>
              <a:rPr sz="1200" b="0">
                <a:solidFill>
                  <a:srgbClr val="1A1A1A"/>
                </a:solidFill>
                <a:latin typeface="맑은 고딕"/>
              </a:rPr>
              <a:t>   → 서울 기준 폭염일수: 2010년대 평균 10.3일 → 2020년대 평균 15.8일 (기상청)</a:t>
            </a:r>
          </a:p>
          <a:p>
            <a:r>
              <a:rPr sz="1200" b="0">
                <a:solidFill>
                  <a:srgbClr val="1A1A1A"/>
                </a:solidFill>
                <a:latin typeface="맑은 고딕"/>
              </a:rPr>
              <a:t>   → 2025년 서울 성동구: 7월 28일~8월 3일 연속 7일 폭염 지속</a:t>
            </a:r>
          </a:p>
          <a:p>
            <a:r>
              <a:rPr sz="1200" b="0">
                <a:solidFill>
                  <a:srgbClr val="1A1A1A"/>
                </a:solidFill>
                <a:latin typeface="맑은 고딕"/>
              </a:rPr>
              <a:t/>
            </a:r>
          </a:p>
          <a:p>
            <a:r>
              <a:rPr sz="1200" b="1">
                <a:solidFill>
                  <a:srgbClr val="1A1A1A"/>
                </a:solidFill>
                <a:latin typeface="맑은 고딕"/>
              </a:rPr>
              <a:t>● UTCI(Universal Thermal Climate Index) ≥ 38°C는 "Very Strong Heat Stress" 단계입니다.</a:t>
            </a:r>
          </a:p>
          <a:p>
            <a:r>
              <a:rPr sz="1200" b="0">
                <a:solidFill>
                  <a:srgbClr val="1A1A1A"/>
                </a:solidFill>
                <a:latin typeface="맑은 고딕"/>
              </a:rPr>
              <a:t>   → 이 조건에서는 보행 활동이 신체에 심각한 위험을 초래하며,</a:t>
            </a:r>
          </a:p>
          <a:p>
            <a:r>
              <a:rPr sz="1200" b="0">
                <a:solidFill>
                  <a:srgbClr val="1A1A1A"/>
                </a:solidFill>
                <a:latin typeface="맑은 고딕"/>
              </a:rPr>
              <a:t>   → 실제로 보행자들은 노출 경로를 회피하거나 이동 자체를 포기합니다.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5669280"/>
            <a:ext cx="1828800" cy="329184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연구 공백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126480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A1A1A"/>
                </a:solidFill>
                <a:latin typeface="맑은 고딕"/>
              </a:rPr>
              <a:t>● 열환경 임계값을 초과할 때 접근 가능 범위 자체가 달라지는 공간 단위 개념은 제안된 바 없습니다.</a:t>
            </a:r>
          </a:p>
          <a:p>
            <a:r>
              <a:rPr sz="1200" b="0">
                <a:solidFill>
                  <a:srgbClr val="1A1A1A"/>
                </a:solidFill>
                <a:latin typeface="맑은 고딕"/>
              </a:rPr>
              <a:t>● 임계값의 불확실성(기상 조건 변동)을 확률적으로 다루는 연구도 존재하지 않습니다.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22234"/>
                </a:solidFill>
                <a:latin typeface="맑은 고딕"/>
              </a:rPr>
              <a:t>Chapter 1.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47548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A1A1A"/>
                </a:solidFill>
                <a:latin typeface="맑은 고딕"/>
              </a:rPr>
              <a:t>연구 목적 및 질문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78992"/>
            <a:ext cx="11457432" cy="18288"/>
          </a:xfrm>
          <a:prstGeom prst="rect">
            <a:avLst/>
          </a:prstGeom>
          <a:solidFill>
            <a:srgbClr val="B222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234440"/>
            <a:ext cx="1828800" cy="329184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연구 목적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719072"/>
            <a:ext cx="113385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A1A1A"/>
                </a:solidFill>
                <a:latin typeface="맑은 고딕"/>
              </a:rPr>
              <a:t>● Thermal Catchment Area 개념 제안</a:t>
            </a:r>
          </a:p>
          <a:p>
            <a:r>
              <a:rPr sz="1200" b="0">
                <a:solidFill>
                  <a:srgbClr val="1A1A1A"/>
                </a:solidFill>
                <a:latin typeface="맑은 고딕"/>
              </a:rPr>
              <a:t>   → 폭염 시 MRT(평균복사온도) 기반 Hard Cut을 적용하여</a:t>
            </a:r>
          </a:p>
          <a:p>
            <a:r>
              <a:rPr sz="1200" b="0">
                <a:solidFill>
                  <a:srgbClr val="1A1A1A"/>
                </a:solidFill>
                <a:latin typeface="맑은 고딕"/>
              </a:rPr>
              <a:t>      실제 보행 가능 범위를 기존 Catchment와 구분되는 새로운 공간 단위로 정식화합니다.</a:t>
            </a:r>
          </a:p>
          <a:p>
            <a:r>
              <a:rPr sz="1200" b="0">
                <a:solidFill>
                  <a:srgbClr val="1A1A1A"/>
                </a:solidFill>
                <a:latin typeface="맑은 고딕"/>
              </a:rPr>
              <a:t/>
            </a:r>
          </a:p>
          <a:p>
            <a:r>
              <a:rPr sz="1200" b="1">
                <a:solidFill>
                  <a:srgbClr val="1A1A1A"/>
                </a:solidFill>
                <a:latin typeface="맑은 고딕"/>
              </a:rPr>
              <a:t>● 서울 성동구 집계구 기점 대중교통 접근성 분석에 적용하여 실증적 유효성을 검증합니다.</a:t>
            </a:r>
          </a:p>
          <a:p>
            <a:r>
              <a:rPr sz="1200" b="0">
                <a:solidFill>
                  <a:srgbClr val="1A1A1A"/>
                </a:solidFill>
                <a:latin typeface="맑은 고딕"/>
              </a:rPr>
              <a:t>   → 집계구(n=506) × 정류장(489개, 네트워크 노드 385개) 기반 Dijkstra 최단경로 분석</a:t>
            </a:r>
          </a:p>
          <a:p>
            <a:r>
              <a:rPr sz="1200" b="0">
                <a:solidFill>
                  <a:srgbClr val="1A1A1A"/>
                </a:solidFill>
                <a:latin typeface="맑은 고딕"/>
              </a:rPr>
              <a:t/>
            </a:r>
          </a:p>
          <a:p>
            <a:r>
              <a:rPr sz="1200" b="1">
                <a:solidFill>
                  <a:srgbClr val="1A1A1A"/>
                </a:solidFill>
                <a:latin typeface="맑은 고딕"/>
              </a:rPr>
              <a:t>● Monte Carlo 방법으로 임계값 불확실성을 정량화합니다.</a:t>
            </a:r>
          </a:p>
          <a:p>
            <a:r>
              <a:rPr sz="1200" b="0">
                <a:solidFill>
                  <a:srgbClr val="1A1A1A"/>
                </a:solidFill>
                <a:latin typeface="맑은 고딕"/>
              </a:rPr>
              <a:t>   → threshold ~ N(μ=55°C, σ²=4²) 에서 2,000개 샘플링 → TARR 확률 분포 획득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4754880"/>
            <a:ext cx="1828800" cy="329184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연구 질문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5212080"/>
            <a:ext cx="113385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A1A1A"/>
                </a:solidFill>
                <a:latin typeface="맑은 고딕"/>
              </a:rPr>
              <a:t>Q1. MRT Hard Cut 적용 시, 폭염 조건에서 기존 Catchment 대비 Thermal Catchment의 접근 가능 정류장은 얼마나 감소하는가?</a:t>
            </a:r>
          </a:p>
          <a:p>
            <a:r>
              <a:rPr sz="1200" b="0">
                <a:solidFill>
                  <a:srgbClr val="1A1A1A"/>
                </a:solidFill>
                <a:latin typeface="맑은 고딕"/>
              </a:rPr>
              <a:t/>
            </a:r>
          </a:p>
          <a:p>
            <a:r>
              <a:rPr sz="1200" b="1">
                <a:solidFill>
                  <a:srgbClr val="1A1A1A"/>
                </a:solidFill>
                <a:latin typeface="맑은 고딕"/>
              </a:rPr>
              <a:t>Q2. MRT 임계값의 불확실성을 Monte Carlo로 전파했을 때, TARR의 확률 분포와 공간 패턴은 어떠한가?</a:t>
            </a:r>
          </a:p>
          <a:p>
            <a:r>
              <a:rPr sz="1200" b="0">
                <a:solidFill>
                  <a:srgbClr val="1A1A1A"/>
                </a:solidFill>
                <a:latin typeface="맑은 고딕"/>
              </a:rPr>
              <a:t/>
            </a:r>
          </a:p>
          <a:p>
            <a:r>
              <a:rPr sz="1200" b="1">
                <a:solidFill>
                  <a:srgbClr val="1A1A1A"/>
                </a:solidFill>
                <a:latin typeface="맑은 고딕"/>
              </a:rPr>
              <a:t>Q3. TARR 패턴이 집계구의 공간 환경 변수(SVF, 캐노피, 건물 형태 등)와 어떠한 관계를 갖는가?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22234"/>
                </a:solidFill>
                <a:latin typeface="맑은 고딕"/>
              </a:rPr>
              <a:t>Chapter 2.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47548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A1A1A"/>
                </a:solidFill>
                <a:latin typeface="맑은 고딕"/>
              </a:rPr>
              <a:t>연구 지역 및 데이터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78992"/>
            <a:ext cx="11457432" cy="18288"/>
          </a:xfrm>
          <a:prstGeom prst="rect">
            <a:avLst/>
          </a:prstGeom>
          <a:solidFill>
            <a:srgbClr val="B222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234440"/>
            <a:ext cx="3236976" cy="329184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연구 지역: 서울특별시 성동구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719072"/>
            <a:ext cx="6858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A1A1A"/>
                </a:solidFill>
                <a:latin typeface="맑은 고딕"/>
              </a:rPr>
              <a:t>● 면적: 16.86 km² | 지하철역 7개소: 왕십리·행당·응봉·뚝섬·성수·서울숲·옥수</a:t>
            </a:r>
          </a:p>
          <a:p>
            <a:r>
              <a:rPr sz="1200" b="0">
                <a:solidFill>
                  <a:srgbClr val="1A1A1A"/>
                </a:solidFill>
                <a:latin typeface="맑은 고딕"/>
              </a:rPr>
              <a:t>● 한강·중랑천 수변 공간 + 서울숲 대형 녹지 + 왕십리·성수 업무지구 + 아파트 단지 혼재</a:t>
            </a:r>
          </a:p>
          <a:p>
            <a:r>
              <a:rPr sz="1200" b="0">
                <a:solidFill>
                  <a:srgbClr val="1A1A1A"/>
                </a:solidFill>
                <a:latin typeface="맑은 고딕"/>
              </a:rPr>
              <a:t>   → 도시 형태가 다양하여 열환경 공간 변이가 크고, 접근성 분석의 적절한 대상 지역</a:t>
            </a:r>
          </a:p>
          <a:p>
            <a:r>
              <a:rPr sz="1200" b="0">
                <a:solidFill>
                  <a:srgbClr val="1A1A1A"/>
                </a:solidFill>
                <a:latin typeface="맑은 고딕"/>
              </a:rPr>
              <a:t/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3474720"/>
            <a:ext cx="1828800" cy="329184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분석 데이터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3931920"/>
            <a:ext cx="68580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A1A1A"/>
                </a:solidFill>
                <a:latin typeface="맑은 고딕"/>
              </a:rPr>
              <a:t>● 보행 네트워크:  OpenStreetMap (osmnx) — 보행 링크 15,608개</a:t>
            </a:r>
          </a:p>
          <a:p>
            <a:r>
              <a:rPr sz="1200" b="0">
                <a:solidFill>
                  <a:srgbClr val="1A1A1A"/>
                </a:solidFill>
                <a:latin typeface="맑은 고딕"/>
              </a:rPr>
              <a:t>● 기상 데이터:     성동구 S-DoT 스마트 센서 — 57개소, 10분 간격 (기온·습도·풍속)</a:t>
            </a:r>
          </a:p>
          <a:p>
            <a:r>
              <a:rPr sz="1200" b="0">
                <a:solidFill>
                  <a:srgbClr val="1A1A1A"/>
                </a:solidFill>
                <a:latin typeface="맑은 고딕"/>
              </a:rPr>
              <a:t>● 일사량(GHI):    Open-Meteo archive — 성동구 중심 단일 지점</a:t>
            </a:r>
          </a:p>
          <a:p>
            <a:r>
              <a:rPr sz="1200" b="0">
                <a:solidFill>
                  <a:srgbClr val="1A1A1A"/>
                </a:solidFill>
                <a:latin typeface="맑은 고딕"/>
              </a:rPr>
              <a:t>● 집계구 경계:    통계청 2016 기준 — 570개 집계구 (유효 집계구 506개)</a:t>
            </a:r>
          </a:p>
          <a:p>
            <a:r>
              <a:rPr sz="1200" b="0">
                <a:solidFill>
                  <a:srgbClr val="1A1A1A"/>
                </a:solidFill>
                <a:latin typeface="맑은 고딕"/>
              </a:rPr>
              <a:t>● 대중교통 정류장: 지하철 7개 + 버스 482개 = 489개 (네트워크 노드 기준 385개)</a:t>
            </a:r>
          </a:p>
          <a:p>
            <a:r>
              <a:rPr sz="1200" b="0">
                <a:solidFill>
                  <a:srgbClr val="1A1A1A"/>
                </a:solidFill>
                <a:latin typeface="맑은 고딕"/>
              </a:rPr>
              <a:t>● 건물 데이터:    OSM 건물 폴리곤 — SVF 산출용</a:t>
            </a:r>
          </a:p>
          <a:p>
            <a:r>
              <a:rPr sz="1200" b="0">
                <a:solidFill>
                  <a:srgbClr val="1A1A1A"/>
                </a:solidFill>
                <a:latin typeface="맑은 고딕"/>
              </a:rPr>
              <a:t/>
            </a:r>
          </a:p>
          <a:p>
            <a:r>
              <a:rPr sz="1200" b="1">
                <a:solidFill>
                  <a:srgbClr val="1A1A1A"/>
                </a:solidFill>
                <a:latin typeface="맑은 고딕"/>
              </a:rPr>
              <a:t>● 분석 기간: 2025년 7월 28일 – 8월 3일 폭염일 7일 평균</a:t>
            </a:r>
          </a:p>
          <a:p>
            <a:r>
              <a:rPr sz="1200" b="1">
                <a:solidFill>
                  <a:srgbClr val="1A1A1A"/>
                </a:solidFill>
                <a:latin typeface="맑은 고딕"/>
              </a:rPr>
              <a:t>● 분석 시간대: 13시 (태양 복사 최대·폭염 피크), 비교 분석: 9시·13시·18시</a:t>
            </a:r>
          </a:p>
        </p:txBody>
      </p:sp>
      <p:pic>
        <p:nvPicPr>
          <p:cNvPr id="9" name="Picture 8" descr="00_SDot센서위치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79" y="1188720"/>
            <a:ext cx="4480560" cy="422213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498079" y="5456570"/>
            <a:ext cx="4480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555555"/>
                </a:solidFill>
                <a:latin typeface="맑은 고딕"/>
              </a:rPr>
              <a:t>그림 1. 성동구 S-DoT 기상 센서 위치 (n=57개)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22234"/>
                </a:solidFill>
                <a:latin typeface="맑은 고딕"/>
              </a:rPr>
              <a:t>Chapter 3.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47548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A1A1A"/>
                </a:solidFill>
                <a:latin typeface="맑은 고딕"/>
              </a:rPr>
              <a:t>방법론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78992"/>
            <a:ext cx="11457432" cy="18288"/>
          </a:xfrm>
          <a:prstGeom prst="rect">
            <a:avLst/>
          </a:prstGeom>
          <a:solidFill>
            <a:srgbClr val="B222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234440"/>
            <a:ext cx="5669280" cy="329184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Step 1: MRT 산출 — SOLWEIG 약식 구현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719072"/>
            <a:ext cx="71323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1A1A1A"/>
                </a:solidFill>
                <a:latin typeface="맑은 고딕"/>
              </a:rPr>
              <a:t>● Lindberg &amp; Grimmond(2011) SOLWEIG 모형을 기반으로 Python으로 직접 구현하였습니다.</a:t>
            </a:r>
          </a:p>
          <a:p>
            <a:r>
              <a:rPr sz="1100" b="1">
                <a:solidFill>
                  <a:srgbClr val="1A1A1A"/>
                </a:solidFill>
                <a:latin typeface="맑은 고딕"/>
              </a:rPr>
              <a:t>● 보행 네트워크 링크(15,608개) 각각에 대해 MRT를 산출합니다.</a:t>
            </a:r>
          </a:p>
          <a:p>
            <a:r>
              <a:rPr sz="1100" b="0">
                <a:solidFill>
                  <a:srgbClr val="1A1A1A"/>
                </a:solidFill>
                <a:latin typeface="맑은 고딕"/>
              </a:rPr>
              <a:t/>
            </a:r>
          </a:p>
          <a:p>
            <a:r>
              <a:rPr sz="1100" b="1">
                <a:solidFill>
                  <a:srgbClr val="1A1A1A"/>
                </a:solidFill>
                <a:latin typeface="맑은 고딕"/>
              </a:rPr>
              <a:t>  Tmrt  =  [ (Ksw + Llw) / σ ]^0.25  − 273.15   [°C]</a:t>
            </a:r>
          </a:p>
          <a:p>
            <a:r>
              <a:rPr sz="1100" b="0">
                <a:solidFill>
                  <a:srgbClr val="1A1A1A"/>
                </a:solidFill>
                <a:latin typeface="맑은 고딕"/>
              </a:rPr>
              <a:t/>
            </a:r>
          </a:p>
          <a:p>
            <a:r>
              <a:rPr sz="1100" b="0">
                <a:solidFill>
                  <a:srgbClr val="1A1A1A"/>
                </a:solidFill>
                <a:latin typeface="맑은 고딕"/>
              </a:rPr>
              <a:t>  ▶ 단파복사 Ksw  =  αp × [ (1−SVF)·Kdif + shadow·Kdir·cosθ + SVF·Kdif ]</a:t>
            </a:r>
          </a:p>
          <a:p>
            <a:r>
              <a:rPr sz="1100" b="0">
                <a:solidFill>
                  <a:srgbClr val="1A1A1A"/>
                </a:solidFill>
                <a:latin typeface="맑은 고딕"/>
              </a:rPr>
              <a:t>     - SVF (Sky View Factor): 하늘이 얼마나 열려 있는가 (0=완전 차폐, 1=완전 개방)</a:t>
            </a:r>
          </a:p>
          <a:p>
            <a:r>
              <a:rPr sz="1100" b="0">
                <a:solidFill>
                  <a:srgbClr val="1A1A1A"/>
                </a:solidFill>
                <a:latin typeface="맑은 고딕"/>
              </a:rPr>
              <a:t>     - Kdir (직달일사), Kdif (확산일사): GHI → Erbs 모델로 분리</a:t>
            </a:r>
          </a:p>
          <a:p>
            <a:r>
              <a:rPr sz="1100" b="0">
                <a:solidFill>
                  <a:srgbClr val="1A1A1A"/>
                </a:solidFill>
                <a:latin typeface="맑은 고딕"/>
              </a:rPr>
              <a:t>     - shadow: 13시 태양 천정각 기반 그림자 마스크 (1=그늘, 0=직사광선)</a:t>
            </a:r>
          </a:p>
          <a:p>
            <a:r>
              <a:rPr sz="1100" b="0">
                <a:solidFill>
                  <a:srgbClr val="1A1A1A"/>
                </a:solidFill>
                <a:latin typeface="맑은 고딕"/>
              </a:rPr>
              <a:t>     - αp = 0.70 (인체 흡수율)</a:t>
            </a:r>
          </a:p>
          <a:p>
            <a:r>
              <a:rPr sz="1100" b="0">
                <a:solidFill>
                  <a:srgbClr val="1A1A1A"/>
                </a:solidFill>
                <a:latin typeface="맑은 고딕"/>
              </a:rPr>
              <a:t/>
            </a:r>
          </a:p>
          <a:p>
            <a:r>
              <a:rPr sz="1100" b="0">
                <a:solidFill>
                  <a:srgbClr val="1A1A1A"/>
                </a:solidFill>
                <a:latin typeface="맑은 고딕"/>
              </a:rPr>
              <a:t>  ▶ 장파복사 Llw  =  εp × [ SVF·Lsky + (1−SVF)·Lwall ]</a:t>
            </a:r>
          </a:p>
          <a:p>
            <a:r>
              <a:rPr sz="1100" b="0">
                <a:solidFill>
                  <a:srgbClr val="1A1A1A"/>
                </a:solidFill>
                <a:latin typeface="맑은 고딕"/>
              </a:rPr>
              <a:t>     - Lsky = εsky·σ·Tair⁴  (Brutsaert 1975 대기 방출률)</a:t>
            </a:r>
          </a:p>
          <a:p>
            <a:r>
              <a:rPr sz="1100" b="0">
                <a:solidFill>
                  <a:srgbClr val="1A1A1A"/>
                </a:solidFill>
                <a:latin typeface="맑은 고딕"/>
              </a:rPr>
              <a:t>     - Lwall = εw·σ·(Tair + 5)⁴  (건물벽면 복사, ΔT=5K 가정)</a:t>
            </a:r>
          </a:p>
          <a:p>
            <a:r>
              <a:rPr sz="1100" b="0">
                <a:solidFill>
                  <a:srgbClr val="1A1A1A"/>
                </a:solidFill>
                <a:latin typeface="맑은 고딕"/>
              </a:rPr>
              <a:t>     - εp = 0.97 (인체 방출률)</a:t>
            </a:r>
          </a:p>
        </p:txBody>
      </p:sp>
      <p:pic>
        <p:nvPicPr>
          <p:cNvPr id="7" name="Picture 6" descr="06_M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0" y="1371600"/>
            <a:ext cx="4297680" cy="355725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680960" y="4974575"/>
            <a:ext cx="4297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555555"/>
                </a:solidFill>
                <a:latin typeface="맑은 고딕"/>
              </a:rPr>
              <a:t>그림 2. 링크별 MRT 분포 (13시, 폭염일 평균)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22234"/>
                </a:solidFill>
                <a:latin typeface="맑은 고딕"/>
              </a:rPr>
              <a:t>Chapter 3.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47548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A1A1A"/>
                </a:solidFill>
                <a:latin typeface="맑은 고딕"/>
              </a:rPr>
              <a:t>방법론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78992"/>
            <a:ext cx="11457432" cy="18288"/>
          </a:xfrm>
          <a:prstGeom prst="rect">
            <a:avLst/>
          </a:prstGeom>
          <a:solidFill>
            <a:srgbClr val="B222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234440"/>
            <a:ext cx="7406640" cy="329184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Step 2: Thermal Catchment Area &amp; TARR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719072"/>
            <a:ext cx="113385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A1A1A"/>
                </a:solidFill>
                <a:latin typeface="맑은 고딕"/>
              </a:rPr>
              <a:t>● Classic Catchment</a:t>
            </a:r>
          </a:p>
          <a:p>
            <a:r>
              <a:rPr sz="1200" b="0">
                <a:solidFill>
                  <a:srgbClr val="1A1A1A"/>
                </a:solidFill>
                <a:latin typeface="맑은 고딕"/>
              </a:rPr>
              <a:t>   → 집계구 도심에서 보행 속도 4.5 km/h 기준, 15분 이내 도달 가능한 정류장의 수</a:t>
            </a:r>
          </a:p>
          <a:p>
            <a:r>
              <a:rPr sz="1200" b="0">
                <a:solidFill>
                  <a:srgbClr val="1A1A1A"/>
                </a:solidFill>
                <a:latin typeface="맑은 고딕"/>
              </a:rPr>
              <a:t>   → 열환경 무시 — 기존 역세권 접근성 분석의 표준 방식</a:t>
            </a:r>
          </a:p>
          <a:p>
            <a:r>
              <a:rPr sz="1200" b="0">
                <a:solidFill>
                  <a:srgbClr val="1A1A1A"/>
                </a:solidFill>
                <a:latin typeface="맑은 고딕"/>
              </a:rPr>
              <a:t/>
            </a:r>
          </a:p>
          <a:p>
            <a:r>
              <a:rPr sz="1200" b="1">
                <a:solidFill>
                  <a:srgbClr val="1A1A1A"/>
                </a:solidFill>
                <a:latin typeface="맑은 고딕"/>
              </a:rPr>
              <a:t>● Thermal Catchment  [본 연구 핵심 개념]</a:t>
            </a:r>
          </a:p>
          <a:p>
            <a:r>
              <a:rPr sz="1200" b="0">
                <a:solidFill>
                  <a:srgbClr val="1A1A1A"/>
                </a:solidFill>
                <a:latin typeface="맑은 고딕"/>
              </a:rPr>
              <a:t>   → MRT ≥ 임계값(threshold)인 링크를 네트워크에서 제거한 뒤,</a:t>
            </a:r>
          </a:p>
          <a:p>
            <a:r>
              <a:rPr sz="1200" b="0">
                <a:solidFill>
                  <a:srgbClr val="1A1A1A"/>
                </a:solidFill>
                <a:latin typeface="맑은 고딕"/>
              </a:rPr>
              <a:t>      남은 네트워크에서 15분 이내 도달 가능한 정류장의 수</a:t>
            </a:r>
          </a:p>
          <a:p>
            <a:r>
              <a:rPr sz="1200" b="0">
                <a:solidFill>
                  <a:srgbClr val="1A1A1A"/>
                </a:solidFill>
                <a:latin typeface="맑은 고딕"/>
              </a:rPr>
              <a:t>   → Hard Cut 가정: 보행자는 MRT가 임계값 이상인 링크를 완전히 회피</a:t>
            </a:r>
          </a:p>
          <a:p>
            <a:r>
              <a:rPr sz="1200" b="0">
                <a:solidFill>
                  <a:srgbClr val="1A1A1A"/>
                </a:solidFill>
                <a:latin typeface="맑은 고딕"/>
              </a:rPr>
              <a:t>   → Dijkstra 알고리즘(최단경로)으로 각 집계구에서 도달 가능 정류장 탐색</a:t>
            </a:r>
          </a:p>
          <a:p>
            <a:r>
              <a:rPr sz="1200" b="0">
                <a:solidFill>
                  <a:srgbClr val="1A1A1A"/>
                </a:solidFill>
                <a:latin typeface="맑은 고딕"/>
              </a:rPr>
              <a:t/>
            </a:r>
          </a:p>
          <a:p>
            <a:r>
              <a:rPr sz="1200" b="1">
                <a:solidFill>
                  <a:srgbClr val="1A1A1A"/>
                </a:solidFill>
                <a:latin typeface="맑은 고딕"/>
              </a:rPr>
              <a:t>● TARR (Thermal Accessibility Reduction Rate) — 열환경 접근성 감소율</a:t>
            </a:r>
          </a:p>
          <a:p>
            <a:r>
              <a:rPr sz="1200" b="0">
                <a:solidFill>
                  <a:srgbClr val="1A1A1A"/>
                </a:solidFill>
                <a:latin typeface="맑은 고딕"/>
              </a:rPr>
              <a:t/>
            </a:r>
          </a:p>
          <a:p>
            <a:r>
              <a:rPr sz="1200" b="1">
                <a:solidFill>
                  <a:srgbClr val="1A1A1A"/>
                </a:solidFill>
                <a:latin typeface="맑은 고딕"/>
              </a:rPr>
              <a:t>   TARR (%) =  ( Classic_cnt − Thermal_cnt ) / Classic_cnt  ×  100</a:t>
            </a:r>
          </a:p>
          <a:p>
            <a:r>
              <a:rPr sz="1200" b="0">
                <a:solidFill>
                  <a:srgbClr val="1A1A1A"/>
                </a:solidFill>
                <a:latin typeface="맑은 고딕"/>
              </a:rPr>
              <a:t/>
            </a:r>
          </a:p>
          <a:p>
            <a:r>
              <a:rPr sz="1200" b="0">
                <a:solidFill>
                  <a:srgbClr val="1A1A1A"/>
                </a:solidFill>
                <a:latin typeface="맑은 고딕"/>
              </a:rPr>
              <a:t>   → TARR = 0%:   열환경 제약 없음 — 폭염에도 접근 가능 범위 유지</a:t>
            </a:r>
          </a:p>
          <a:p>
            <a:r>
              <a:rPr sz="1200" b="0">
                <a:solidFill>
                  <a:srgbClr val="1A1A1A"/>
                </a:solidFill>
                <a:latin typeface="맑은 고딕"/>
              </a:rPr>
              <a:t>   → TARR = 100%: 모든 정류장 접근 불가 — 완전 고립</a:t>
            </a:r>
          </a:p>
          <a:p>
            <a:r>
              <a:rPr sz="1200" b="0">
                <a:solidFill>
                  <a:srgbClr val="1A1A1A"/>
                </a:solidFill>
                <a:latin typeface="맑은 고딕"/>
              </a:rPr>
              <a:t>   → TARR이 높은 집계구 = 폭염 시 대중교통 접근성 취약 지역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22234"/>
                </a:solidFill>
                <a:latin typeface="맑은 고딕"/>
              </a:rPr>
              <a:t>Chapter 3.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47548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A1A1A"/>
                </a:solidFill>
                <a:latin typeface="맑은 고딕"/>
              </a:rPr>
              <a:t>방법론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78992"/>
            <a:ext cx="11457432" cy="18288"/>
          </a:xfrm>
          <a:prstGeom prst="rect">
            <a:avLst/>
          </a:prstGeom>
          <a:solidFill>
            <a:srgbClr val="B222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234440"/>
            <a:ext cx="5843016" cy="329184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Step 3: Monte Carlo 임계값 불확실성 분석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719072"/>
            <a:ext cx="113385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A1A1A"/>
                </a:solidFill>
                <a:latin typeface="맑은 고딕"/>
              </a:rPr>
              <a:t>● 왜 Monte Carlo가 필요한가?</a:t>
            </a:r>
          </a:p>
          <a:p>
            <a:r>
              <a:rPr sz="1200" b="0">
                <a:solidFill>
                  <a:srgbClr val="1A1A1A"/>
                </a:solidFill>
                <a:latin typeface="맑은 고딕"/>
              </a:rPr>
              <a:t>   → MRT 임계값을 "55°C"로 단일 고정하면 임계값 선택 자체의 불확실성이 무시됩니다.</a:t>
            </a:r>
          </a:p>
          <a:p>
            <a:r>
              <a:rPr sz="1200" b="0">
                <a:solidFill>
                  <a:srgbClr val="1A1A1A"/>
                </a:solidFill>
                <a:latin typeface="맑은 고딕"/>
              </a:rPr>
              <a:t>   → 기상 조건(기온·습도·풍속)은 날마다 달라지므로, "위험 MRT" 역시 범위로 존재합니다.</a:t>
            </a:r>
          </a:p>
          <a:p>
            <a:r>
              <a:rPr sz="1200" b="0">
                <a:solidFill>
                  <a:srgbClr val="1A1A1A"/>
                </a:solidFill>
                <a:latin typeface="맑은 고딕"/>
              </a:rPr>
              <a:t>   → 교수님 피드백: "임계값이 애매할 때 Monte Carlo를 돌려라"</a:t>
            </a:r>
          </a:p>
          <a:p>
            <a:r>
              <a:rPr sz="1200" b="0">
                <a:solidFill>
                  <a:srgbClr val="1A1A1A"/>
                </a:solidFill>
                <a:latin typeface="맑은 고딕"/>
              </a:rPr>
              <a:t/>
            </a:r>
          </a:p>
          <a:p>
            <a:r>
              <a:rPr sz="1200" b="1">
                <a:solidFill>
                  <a:srgbClr val="1A1A1A"/>
                </a:solidFill>
                <a:latin typeface="맑은 고딕"/>
              </a:rPr>
              <a:t>● 분석 설계 (N=2,000 샘플, 난수 시드 42 고정)</a:t>
            </a:r>
          </a:p>
          <a:p>
            <a:r>
              <a:rPr sz="1200" b="0">
                <a:solidFill>
                  <a:srgbClr val="1A1A1A"/>
                </a:solidFill>
                <a:latin typeface="맑은 고딕"/>
              </a:rPr>
              <a:t/>
            </a:r>
          </a:p>
          <a:p>
            <a:r>
              <a:rPr sz="1200" b="0">
                <a:solidFill>
                  <a:srgbClr val="1A1A1A"/>
                </a:solidFill>
                <a:latin typeface="맑은 고딕"/>
              </a:rPr>
              <a:t>   Step 1.  MRT 임계값 그리드 [45, 49, 51, 53, 55, 57, 59, 61, 65°C] 설정</a:t>
            </a:r>
          </a:p>
          <a:p>
            <a:r>
              <a:rPr sz="1200" b="0">
                <a:solidFill>
                  <a:srgbClr val="1A1A1A"/>
                </a:solidFill>
                <a:latin typeface="맑은 고딕"/>
              </a:rPr>
              <a:t>            → 9개 임계값 각각에 대해 집계구별(n=506) TARR 사전 계산</a:t>
            </a:r>
          </a:p>
          <a:p>
            <a:r>
              <a:rPr sz="1200" b="0">
                <a:solidFill>
                  <a:srgbClr val="1A1A1A"/>
                </a:solidFill>
                <a:latin typeface="맑은 고딕"/>
              </a:rPr>
              <a:t/>
            </a:r>
          </a:p>
          <a:p>
            <a:r>
              <a:rPr sz="1200" b="0">
                <a:solidFill>
                  <a:srgbClr val="1A1A1A"/>
                </a:solidFill>
                <a:latin typeface="맑은 고딕"/>
              </a:rPr>
              <a:t>   Step 2.  threshold ~ N(μ=55°C, σ=4°C) 에서 2,000개 샘플링</a:t>
            </a:r>
          </a:p>
          <a:p>
            <a:r>
              <a:rPr sz="1200" b="0">
                <a:solidFill>
                  <a:srgbClr val="1A1A1A"/>
                </a:solidFill>
                <a:latin typeface="맑은 고딕"/>
              </a:rPr>
              <a:t>            → 95% 범위: 47~63°C (물리적으로 가능한 MRT 임계값 범위)</a:t>
            </a:r>
          </a:p>
          <a:p>
            <a:r>
              <a:rPr sz="1200" b="0">
                <a:solidFill>
                  <a:srgbClr val="1A1A1A"/>
                </a:solidFill>
                <a:latin typeface="맑은 고딕"/>
              </a:rPr>
              <a:t/>
            </a:r>
          </a:p>
          <a:p>
            <a:r>
              <a:rPr sz="1200" b="0">
                <a:solidFill>
                  <a:srgbClr val="1A1A1A"/>
                </a:solidFill>
                <a:latin typeface="맑은 고딕"/>
              </a:rPr>
              <a:t>   Step 3.  집계구별 TARR(threshold) 선형 보간 → 샘플별 TARR 획득</a:t>
            </a:r>
          </a:p>
          <a:p>
            <a:r>
              <a:rPr sz="1200" b="0">
                <a:solidFill>
                  <a:srgbClr val="1A1A1A"/>
                </a:solidFill>
                <a:latin typeface="맑은 고딕"/>
              </a:rPr>
              <a:t>            → (집계구 506 × 샘플 2,000) 매트릭스 구성</a:t>
            </a:r>
          </a:p>
          <a:p>
            <a:r>
              <a:rPr sz="1200" b="0">
                <a:solidFill>
                  <a:srgbClr val="1A1A1A"/>
                </a:solidFill>
                <a:latin typeface="맑은 고딕"/>
              </a:rPr>
              <a:t/>
            </a:r>
          </a:p>
          <a:p>
            <a:r>
              <a:rPr sz="1200" b="0">
                <a:solidFill>
                  <a:srgbClr val="1A1A1A"/>
                </a:solidFill>
                <a:latin typeface="맑은 고딕"/>
              </a:rPr>
              <a:t>   Step 4.  집계구별 TARR 중앙값·95% CI(2.5~97.5 퍼센타일) 산출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22234"/>
                </a:solidFill>
                <a:latin typeface="맑은 고딕"/>
              </a:rPr>
              <a:t>Chapter 4.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47548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A1A1A"/>
                </a:solidFill>
                <a:latin typeface="맑은 고딕"/>
              </a:rPr>
              <a:t>분석 결과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78992"/>
            <a:ext cx="11457432" cy="18288"/>
          </a:xfrm>
          <a:prstGeom prst="rect">
            <a:avLst/>
          </a:prstGeom>
          <a:solidFill>
            <a:srgbClr val="B222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234440"/>
            <a:ext cx="4974336" cy="329184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핵심 발견: MRT 임계값 민감도 S-curve</a:t>
            </a:r>
          </a:p>
        </p:txBody>
      </p:sp>
      <p:pic>
        <p:nvPicPr>
          <p:cNvPr id="6" name="Picture 5" descr="mc_threshold_sensi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17320"/>
            <a:ext cx="7498079" cy="465070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6113747"/>
            <a:ext cx="749807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555555"/>
                </a:solidFill>
                <a:latin typeface="맑은 고딕"/>
              </a:rPr>
              <a:t>그림 3. MRT 임계값 민감도 곡선 (집계구 평균 TARR ± 1 std, n=506, 13시)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1417320"/>
            <a:ext cx="3749039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1A1A1A"/>
                </a:solidFill>
                <a:latin typeface="맑은 고딕"/>
              </a:rPr>
              <a:t>핵심 해석</a:t>
            </a:r>
          </a:p>
          <a:p>
            <a:r>
              <a:rPr sz="1100" b="0">
                <a:solidFill>
                  <a:srgbClr val="1A1A1A"/>
                </a:solidFill>
                <a:latin typeface="맑은 고딕"/>
              </a:rPr>
              <a:t/>
            </a:r>
          </a:p>
          <a:p>
            <a:r>
              <a:rPr sz="1100" b="0">
                <a:solidFill>
                  <a:srgbClr val="1A1A1A"/>
                </a:solidFill>
                <a:latin typeface="맑은 고딕"/>
              </a:rPr>
              <a:t>● 45°C 임계값</a:t>
            </a:r>
          </a:p>
          <a:p>
            <a:r>
              <a:rPr sz="1100" b="1">
                <a:solidFill>
                  <a:srgbClr val="1A1A1A"/>
                </a:solidFill>
                <a:latin typeface="맑은 고딕"/>
              </a:rPr>
              <a:t>   TARR ≈ 95%</a:t>
            </a:r>
          </a:p>
          <a:p>
            <a:r>
              <a:rPr sz="1100" b="0">
                <a:solidFill>
                  <a:srgbClr val="1A1A1A"/>
                </a:solidFill>
                <a:latin typeface="맑은 고딕"/>
              </a:rPr>
              <a:t>   거의 모든 링크 차단</a:t>
            </a:r>
          </a:p>
          <a:p>
            <a:r>
              <a:rPr sz="1100" b="0">
                <a:solidFill>
                  <a:srgbClr val="1A1A1A"/>
                </a:solidFill>
                <a:latin typeface="맑은 고딕"/>
              </a:rPr>
              <a:t/>
            </a:r>
          </a:p>
          <a:p>
            <a:r>
              <a:rPr sz="1100" b="0">
                <a:solidFill>
                  <a:srgbClr val="1A1A1A"/>
                </a:solidFill>
                <a:latin typeface="맑은 고딕"/>
              </a:rPr>
              <a:t>● 53°C 임계값</a:t>
            </a:r>
          </a:p>
          <a:p>
            <a:r>
              <a:rPr sz="1100" b="1">
                <a:solidFill>
                  <a:srgbClr val="1A1A1A"/>
                </a:solidFill>
                <a:latin typeface="맑은 고딕"/>
              </a:rPr>
              <a:t>   TARR ≈ 88%</a:t>
            </a:r>
          </a:p>
          <a:p>
            <a:r>
              <a:rPr sz="1100" b="0">
                <a:solidFill>
                  <a:srgbClr val="1A1A1A"/>
                </a:solidFill>
                <a:latin typeface="맑은 고딕"/>
              </a:rPr>
              <a:t/>
            </a:r>
          </a:p>
          <a:p>
            <a:r>
              <a:rPr sz="1100" b="0">
                <a:solidFill>
                  <a:srgbClr val="1A1A1A"/>
                </a:solidFill>
                <a:latin typeface="맑은 고딕"/>
              </a:rPr>
              <a:t>● 55°C 임계값 ← 기준값</a:t>
            </a:r>
          </a:p>
          <a:p>
            <a:r>
              <a:rPr sz="1100" b="1">
                <a:solidFill>
                  <a:srgbClr val="1A1A1A"/>
                </a:solidFill>
                <a:latin typeface="맑은 고딕"/>
              </a:rPr>
              <a:t>   TARR ≈ 73%</a:t>
            </a:r>
          </a:p>
          <a:p>
            <a:r>
              <a:rPr sz="1100" b="0">
                <a:solidFill>
                  <a:srgbClr val="1A1A1A"/>
                </a:solidFill>
                <a:latin typeface="맑은 고딕"/>
              </a:rPr>
              <a:t/>
            </a:r>
          </a:p>
          <a:p>
            <a:r>
              <a:rPr sz="1100" b="0">
                <a:solidFill>
                  <a:srgbClr val="1A1A1A"/>
                </a:solidFill>
                <a:latin typeface="맑은 고딕"/>
              </a:rPr>
              <a:t>● 57°C 임계값</a:t>
            </a:r>
          </a:p>
          <a:p>
            <a:r>
              <a:rPr sz="1100" b="1">
                <a:solidFill>
                  <a:srgbClr val="1A1A1A"/>
                </a:solidFill>
                <a:latin typeface="맑은 고딕"/>
              </a:rPr>
              <a:t>   TARR ≈ 39%</a:t>
            </a:r>
          </a:p>
          <a:p>
            <a:r>
              <a:rPr sz="1100" b="0">
                <a:solidFill>
                  <a:srgbClr val="1A1A1A"/>
                </a:solidFill>
                <a:latin typeface="맑은 고딕"/>
              </a:rPr>
              <a:t/>
            </a:r>
          </a:p>
          <a:p>
            <a:r>
              <a:rPr sz="1100" b="0">
                <a:solidFill>
                  <a:srgbClr val="1A1A1A"/>
                </a:solidFill>
                <a:latin typeface="맑은 고딕"/>
              </a:rPr>
              <a:t>● 65°C 임계값</a:t>
            </a:r>
          </a:p>
          <a:p>
            <a:r>
              <a:rPr sz="1100" b="1">
                <a:solidFill>
                  <a:srgbClr val="1A1A1A"/>
                </a:solidFill>
                <a:latin typeface="맑은 고딕"/>
              </a:rPr>
              <a:t>   TARR ≈ 5%</a:t>
            </a:r>
          </a:p>
          <a:p>
            <a:r>
              <a:rPr sz="1100" b="0">
                <a:solidFill>
                  <a:srgbClr val="1A1A1A"/>
                </a:solidFill>
                <a:latin typeface="맑은 고딕"/>
              </a:rPr>
              <a:t>   거의 차단 없음</a:t>
            </a:r>
          </a:p>
          <a:p>
            <a:r>
              <a:rPr sz="1100" b="0">
                <a:solidFill>
                  <a:srgbClr val="1A1A1A"/>
                </a:solidFill>
                <a:latin typeface="맑은 고딕"/>
              </a:rPr>
              <a:t/>
            </a:r>
          </a:p>
          <a:p>
            <a:r>
              <a:rPr sz="1100" b="1">
                <a:solidFill>
                  <a:srgbClr val="1A1A1A"/>
                </a:solidFill>
                <a:latin typeface="맑은 고딕"/>
              </a:rPr>
              <a:t>★ 53~57°C 구간:</a:t>
            </a:r>
          </a:p>
          <a:p>
            <a:r>
              <a:rPr sz="1100" b="1">
                <a:solidFill>
                  <a:srgbClr val="1A1A1A"/>
                </a:solidFill>
                <a:latin typeface="맑은 고딕"/>
              </a:rPr>
              <a:t>  TARR 88%→39% 급변</a:t>
            </a:r>
          </a:p>
          <a:p>
            <a:r>
              <a:rPr sz="1100" b="1">
                <a:solidFill>
                  <a:srgbClr val="1A1A1A"/>
                </a:solidFill>
                <a:latin typeface="맑은 고딕"/>
              </a:rPr>
              <a:t>  = S-curve 변곡점</a:t>
            </a:r>
          </a:p>
          <a:p>
            <a:r>
              <a:rPr sz="1100" b="0">
                <a:solidFill>
                  <a:srgbClr val="1A1A1A"/>
                </a:solidFill>
                <a:latin typeface="맑은 고딕"/>
              </a:rPr>
              <a:t/>
            </a:r>
          </a:p>
          <a:p>
            <a:r>
              <a:rPr sz="1100" b="0">
                <a:solidFill>
                  <a:srgbClr val="1A1A1A"/>
                </a:solidFill>
                <a:latin typeface="맑은 고딕"/>
              </a:rPr>
              <a:t>→ 55°C = 변곡점 중심,</a:t>
            </a:r>
          </a:p>
          <a:p>
            <a:r>
              <a:rPr sz="1100" b="0">
                <a:solidFill>
                  <a:srgbClr val="1A1A1A"/>
                </a:solidFill>
                <a:latin typeface="맑은 고딕"/>
              </a:rPr>
              <a:t>  보수적 기준값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22234"/>
                </a:solidFill>
                <a:latin typeface="맑은 고딕"/>
              </a:rPr>
              <a:t>Chapter 4.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47548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A1A1A"/>
                </a:solidFill>
                <a:latin typeface="맑은 고딕"/>
              </a:rPr>
              <a:t>분석 결과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78992"/>
            <a:ext cx="11457432" cy="18288"/>
          </a:xfrm>
          <a:prstGeom prst="rect">
            <a:avLst/>
          </a:prstGeom>
          <a:solidFill>
            <a:srgbClr val="B222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234440"/>
            <a:ext cx="5495544" cy="329184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TARR 공간 분포 (MRT 55°C 기준, 13시)</a:t>
            </a:r>
          </a:p>
        </p:txBody>
      </p:sp>
      <p:pic>
        <p:nvPicPr>
          <p:cNvPr id="6" name="Picture 5" descr="tarr_spatial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4376" y="1371600"/>
            <a:ext cx="6232367" cy="51663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658368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555555"/>
                </a:solidFill>
                <a:latin typeface="맑은 고딕"/>
              </a:rPr>
              <a:t>그림 4. 집계구별 TARR 공간 분포 (n=506, 폭염일 평균)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0" y="1417320"/>
            <a:ext cx="32004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1A1A1A"/>
                </a:solidFill>
                <a:latin typeface="맑은 고딕"/>
              </a:rPr>
              <a:t>주요 통계</a:t>
            </a:r>
          </a:p>
          <a:p>
            <a:r>
              <a:rPr sz="1100" b="0">
                <a:solidFill>
                  <a:srgbClr val="1A1A1A"/>
                </a:solidFill>
                <a:latin typeface="맑은 고딕"/>
              </a:rPr>
              <a:t/>
            </a:r>
          </a:p>
          <a:p>
            <a:r>
              <a:rPr sz="1100" b="1">
                <a:solidFill>
                  <a:srgbClr val="1A1A1A"/>
                </a:solidFill>
                <a:latin typeface="맑은 고딕"/>
              </a:rPr>
              <a:t>● 집계구 평균 TARR: 73.3%</a:t>
            </a:r>
          </a:p>
          <a:p>
            <a:r>
              <a:rPr sz="1100" b="0">
                <a:solidFill>
                  <a:srgbClr val="1A1A1A"/>
                </a:solidFill>
                <a:latin typeface="맑은 고딕"/>
              </a:rPr>
              <a:t>   → 폭염 시 평균 73%의</a:t>
            </a:r>
          </a:p>
          <a:p>
            <a:r>
              <a:rPr sz="1100" b="0">
                <a:solidFill>
                  <a:srgbClr val="1A1A1A"/>
                </a:solidFill>
                <a:latin typeface="맑은 고딕"/>
              </a:rPr>
              <a:t>     정류장 접근 기회 손실</a:t>
            </a:r>
          </a:p>
          <a:p>
            <a:r>
              <a:rPr sz="1100" b="0">
                <a:solidFill>
                  <a:srgbClr val="1A1A1A"/>
                </a:solidFill>
                <a:latin typeface="맑은 고딕"/>
              </a:rPr>
              <a:t/>
            </a:r>
          </a:p>
          <a:p>
            <a:r>
              <a:rPr sz="1100" b="0">
                <a:solidFill>
                  <a:srgbClr val="1A1A1A"/>
                </a:solidFill>
                <a:latin typeface="맑은 고딕"/>
              </a:rPr>
              <a:t>● TARR &gt; 80%: 고취약 지역</a:t>
            </a:r>
          </a:p>
          <a:p>
            <a:r>
              <a:rPr sz="1100" b="0">
                <a:solidFill>
                  <a:srgbClr val="1A1A1A"/>
                </a:solidFill>
                <a:latin typeface="맑은 고딕"/>
              </a:rPr>
              <a:t>   (짙은 빨강)</a:t>
            </a:r>
          </a:p>
          <a:p>
            <a:r>
              <a:rPr sz="1100" b="0">
                <a:solidFill>
                  <a:srgbClr val="1A1A1A"/>
                </a:solidFill>
                <a:latin typeface="맑은 고딕"/>
              </a:rPr>
              <a:t/>
            </a:r>
          </a:p>
          <a:p>
            <a:r>
              <a:rPr sz="1100" b="1">
                <a:solidFill>
                  <a:srgbClr val="1A1A1A"/>
                </a:solidFill>
                <a:latin typeface="맑은 고딕"/>
              </a:rPr>
              <a:t>● 공간 패턴</a:t>
            </a:r>
          </a:p>
          <a:p>
            <a:r>
              <a:rPr sz="1100" b="0">
                <a:solidFill>
                  <a:srgbClr val="1A1A1A"/>
                </a:solidFill>
                <a:latin typeface="맑은 고딕"/>
              </a:rPr>
              <a:t>   → 한강변·서울숲 주변</a:t>
            </a:r>
          </a:p>
          <a:p>
            <a:r>
              <a:rPr sz="1100" b="0">
                <a:solidFill>
                  <a:srgbClr val="1A1A1A"/>
                </a:solidFill>
                <a:latin typeface="맑은 고딕"/>
              </a:rPr>
              <a:t>     TARR 높음</a:t>
            </a:r>
          </a:p>
          <a:p>
            <a:r>
              <a:rPr sz="1100" b="0">
                <a:solidFill>
                  <a:srgbClr val="1A1A1A"/>
                </a:solidFill>
                <a:latin typeface="맑은 고딕"/>
              </a:rPr>
              <a:t>     (개방 구간 = 고온 링크 多)</a:t>
            </a:r>
          </a:p>
          <a:p>
            <a:r>
              <a:rPr sz="1100" b="0">
                <a:solidFill>
                  <a:srgbClr val="1A1A1A"/>
                </a:solidFill>
                <a:latin typeface="맑은 고딕"/>
              </a:rPr>
              <a:t/>
            </a:r>
          </a:p>
          <a:p>
            <a:r>
              <a:rPr sz="1100" b="0">
                <a:solidFill>
                  <a:srgbClr val="1A1A1A"/>
                </a:solidFill>
                <a:latin typeface="맑은 고딕"/>
              </a:rPr>
              <a:t>   → 건물 밀집 구간</a:t>
            </a:r>
          </a:p>
          <a:p>
            <a:r>
              <a:rPr sz="1100" b="0">
                <a:solidFill>
                  <a:srgbClr val="1A1A1A"/>
                </a:solidFill>
                <a:latin typeface="맑은 고딕"/>
              </a:rPr>
              <a:t>     TARR 상대적 낮음</a:t>
            </a:r>
          </a:p>
          <a:p>
            <a:r>
              <a:rPr sz="1100" b="0">
                <a:solidFill>
                  <a:srgbClr val="1A1A1A"/>
                </a:solidFill>
                <a:latin typeface="맑은 고딕"/>
              </a:rPr>
              <a:t>     (SVF↓ = 그늘 多)</a:t>
            </a:r>
          </a:p>
          <a:p>
            <a:r>
              <a:rPr sz="1100" b="0">
                <a:solidFill>
                  <a:srgbClr val="1A1A1A"/>
                </a:solidFill>
                <a:latin typeface="맑은 고딕"/>
              </a:rPr>
              <a:t/>
            </a:r>
          </a:p>
          <a:p>
            <a:r>
              <a:rPr sz="1100" b="0">
                <a:solidFill>
                  <a:srgbClr val="1A1A1A"/>
                </a:solidFill>
                <a:latin typeface="맑은 고딕"/>
              </a:rPr>
              <a:t>● 공간 군집 패턴 존재</a:t>
            </a:r>
          </a:p>
          <a:p>
            <a:r>
              <a:rPr sz="1100" b="0">
                <a:solidFill>
                  <a:srgbClr val="1A1A1A"/>
                </a:solidFill>
                <a:latin typeface="맑은 고딕"/>
              </a:rPr>
              <a:t>   → Moran's I 분석 필요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22234"/>
                </a:solidFill>
                <a:latin typeface="맑은 고딕"/>
              </a:rPr>
              <a:t>Chapter 4.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47548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A1A1A"/>
                </a:solidFill>
                <a:latin typeface="맑은 고딕"/>
              </a:rPr>
              <a:t>분석 결과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78992"/>
            <a:ext cx="11457432" cy="18288"/>
          </a:xfrm>
          <a:prstGeom prst="rect">
            <a:avLst/>
          </a:prstGeom>
          <a:solidFill>
            <a:srgbClr val="B222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234440"/>
            <a:ext cx="6016752" cy="329184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Monte Carlo TARR 분포 및 불확실성 공간 분포</a:t>
            </a:r>
          </a:p>
        </p:txBody>
      </p:sp>
      <p:pic>
        <p:nvPicPr>
          <p:cNvPr id="6" name="Picture 5" descr="mc_tarr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9020" y="1371600"/>
            <a:ext cx="10483479" cy="40233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544068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555555"/>
                </a:solidFill>
                <a:latin typeface="맑은 고딕"/>
              </a:rPr>
              <a:t>그림 5. (좌) 집계구별 TARR 중앙값 분포 히스토그램 / (우) 95% CI 폭 분포 히스토그램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5577840"/>
            <a:ext cx="113385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1A1A1A"/>
                </a:solidFill>
                <a:latin typeface="맑은 고딕"/>
              </a:rPr>
              <a:t>● TARR 중앙값 평균: 70.2%  (std: 18.3%)</a:t>
            </a:r>
          </a:p>
          <a:p>
            <a:r>
              <a:rPr sz="1100" b="1">
                <a:solidFill>
                  <a:srgbClr val="1A1A1A"/>
                </a:solidFill>
                <a:latin typeface="맑은 고딕"/>
              </a:rPr>
              <a:t>● 95% CI 폭 평균: 39.0%p  → "임계값 4°C 불확실성이 TARR을 39%p 변동시킴"</a:t>
            </a:r>
          </a:p>
          <a:p>
            <a:r>
              <a:rPr sz="1100" b="0">
                <a:solidFill>
                  <a:srgbClr val="1A1A1A"/>
                </a:solidFill>
                <a:latin typeface="맑은 고딕"/>
              </a:rPr>
              <a:t>● CI 폭이 넓은 이유: 53~57°C S-curve 경사 구간이 N(55, 4²) 샘플링 범위 안에 포함됨</a:t>
            </a:r>
          </a:p>
          <a:p>
            <a:r>
              <a:rPr sz="1100" b="0">
                <a:solidFill>
                  <a:srgbClr val="1A1A1A"/>
                </a:solidFill>
                <a:latin typeface="맑은 고딕"/>
              </a:rPr>
              <a:t>   → CI 폭은 "불안정"의 징표가 아니라, S-curve 민감 구간의 존재를 정량적으로 보여주는 결과임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22234"/>
                </a:solidFill>
                <a:latin typeface="맑은 고딕"/>
              </a:rPr>
              <a:t>Chapter 4.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47548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A1A1A"/>
                </a:solidFill>
                <a:latin typeface="맑은 고딕"/>
              </a:rPr>
              <a:t>분석 결과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78992"/>
            <a:ext cx="11457432" cy="18288"/>
          </a:xfrm>
          <a:prstGeom prst="rect">
            <a:avLst/>
          </a:prstGeom>
          <a:solidFill>
            <a:srgbClr val="B222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234440"/>
            <a:ext cx="4626864" cy="329184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Monte Carlo — 집계구별 공간 분포</a:t>
            </a:r>
          </a:p>
        </p:txBody>
      </p:sp>
      <p:pic>
        <p:nvPicPr>
          <p:cNvPr id="6" name="Picture 5" descr="mc_tarr_ci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758" y="1371600"/>
            <a:ext cx="10870002" cy="5029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555555"/>
                </a:solidFill>
                <a:latin typeface="맑은 고딕"/>
              </a:rPr>
              <a:t>그림 6. (좌) 집계구별 TARR 중앙값 공간 분포 / (우) 95% CI 폭 공간 분포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49224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1A1A1A"/>
                </a:solidFill>
                <a:latin typeface="맑은 고딕"/>
              </a:rPr>
              <a:t>● 좌: TARR 중앙값 — 한강변·서울숲 주변 고취약, 건물 밀집 구간 상대적 저취약</a:t>
            </a:r>
          </a:p>
          <a:p>
            <a:r>
              <a:rPr sz="1100" b="0">
                <a:solidFill>
                  <a:srgbClr val="1A1A1A"/>
                </a:solidFill>
                <a:latin typeface="맑은 고딕"/>
              </a:rPr>
              <a:t>● 우: CI 폭 — S-curve 민감 구간에 걸리는 집계구일수록 CI 폭이 넓게 나타남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22234"/>
                </a:solidFill>
                <a:latin typeface="맑은 고딕"/>
              </a:rPr>
              <a:t>Chapter 4.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47548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A1A1A"/>
                </a:solidFill>
                <a:latin typeface="맑은 고딕"/>
              </a:rPr>
              <a:t>분석 결과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78992"/>
            <a:ext cx="11457432" cy="18288"/>
          </a:xfrm>
          <a:prstGeom prst="rect">
            <a:avLst/>
          </a:prstGeom>
          <a:solidFill>
            <a:srgbClr val="B222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234440"/>
            <a:ext cx="4453128" cy="329184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시간대별 비교: 9시 · 13시 · 18시</a:t>
            </a:r>
          </a:p>
        </p:txBody>
      </p:sp>
      <p:pic>
        <p:nvPicPr>
          <p:cNvPr id="6" name="Picture 5" descr="tarr_3hour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1600"/>
            <a:ext cx="11430000" cy="3792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521028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555555"/>
                </a:solidFill>
                <a:latin typeface="맑은 고딕"/>
              </a:rPr>
              <a:t>그림 7. 시간대별 MRT 최댓값, 고온링크 비율(MRT≥55°C), 집계구 평균 TARR 비교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5943600"/>
            <a:ext cx="11338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1A1A1A"/>
                </a:solidFill>
                <a:latin typeface="맑은 고딕"/>
              </a:rPr>
              <a:t>● 9시: MRT 낮음 → 고온링크 비율·TARR 모두 낮음 — 폭염 이전 시간대</a:t>
            </a:r>
          </a:p>
          <a:p>
            <a:r>
              <a:rPr sz="1100" b="1">
                <a:solidFill>
                  <a:srgbClr val="1A1A1A"/>
                </a:solidFill>
                <a:latin typeface="맑은 고딕"/>
              </a:rPr>
              <a:t>● 13시: MRT 최대 → 고온링크 비율 최대 → TARR 최대 (73.3%) — 분석 기준 시간대</a:t>
            </a:r>
          </a:p>
          <a:p>
            <a:r>
              <a:rPr sz="1100" b="0">
                <a:solidFill>
                  <a:srgbClr val="1A1A1A"/>
                </a:solidFill>
                <a:latin typeface="맑은 고딕"/>
              </a:rPr>
              <a:t>● 18시: MRT 감소 시작 → TARR 감소 — 일몰 전 회복 단계</a:t>
            </a:r>
          </a:p>
          <a:p>
            <a:r>
              <a:rPr sz="1100" b="1">
                <a:solidFill>
                  <a:srgbClr val="1A1A1A"/>
                </a:solidFill>
                <a:latin typeface="맑은 고딕"/>
              </a:rPr>
              <a:t>→ 13시가 접근성 제약이 가장 심각한 시간대임을 확인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22234"/>
                </a:solidFill>
                <a:latin typeface="맑은 고딕"/>
              </a:rPr>
              <a:t>Chapter 4.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47548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A1A1A"/>
                </a:solidFill>
                <a:latin typeface="맑은 고딕"/>
              </a:rPr>
              <a:t>분석 결과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78992"/>
            <a:ext cx="11457432" cy="18288"/>
          </a:xfrm>
          <a:prstGeom prst="rect">
            <a:avLst/>
          </a:prstGeom>
          <a:solidFill>
            <a:srgbClr val="B222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234440"/>
            <a:ext cx="3758183" cy="329184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지하철역별 접근 가능 정류장 손실율</a:t>
            </a:r>
          </a:p>
        </p:txBody>
      </p:sp>
      <p:pic>
        <p:nvPicPr>
          <p:cNvPr id="6" name="Picture 5" descr="station_stop_loss_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1600"/>
            <a:ext cx="11430000" cy="391187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5329191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555555"/>
                </a:solidFill>
                <a:latin typeface="맑은 고딕"/>
              </a:rPr>
              <a:t>그림 8. 지하철역 7개소별 Classic·Thermal Catchment 정류장 수 및 손실율 (MRT 55°C, 13시)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446520"/>
            <a:ext cx="11338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1A1A1A"/>
                </a:solidFill>
                <a:latin typeface="맑은 고딕"/>
              </a:rPr>
              <a:t>● 서울숲역 80.0%, 행당역 77.6% 등 역별 손실율 차이 → 역 주변 열환경 이질성 반영</a:t>
            </a:r>
          </a:p>
          <a:p>
            <a:r>
              <a:rPr sz="1100" b="0">
                <a:solidFill>
                  <a:srgbClr val="1A1A1A"/>
                </a:solidFill>
                <a:latin typeface="맑은 고딕"/>
              </a:rPr>
              <a:t>● 손실율이 높은 역일수록 폭염 시 환승·접근 대안이 더 제한됨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22234"/>
                </a:solidFill>
                <a:latin typeface="맑은 고딕"/>
              </a:rPr>
              <a:t>Chapter 4.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47548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A1A1A"/>
                </a:solidFill>
                <a:latin typeface="맑은 고딕"/>
              </a:rPr>
              <a:t>분석 결과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78992"/>
            <a:ext cx="11457432" cy="18288"/>
          </a:xfrm>
          <a:prstGeom prst="rect">
            <a:avLst/>
          </a:prstGeom>
          <a:solidFill>
            <a:srgbClr val="B222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234440"/>
            <a:ext cx="6016752" cy="329184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공간 환경 변수 × TARR OLS 회귀분석 (보조 분석)</a:t>
            </a:r>
          </a:p>
        </p:txBody>
      </p:sp>
      <p:pic>
        <p:nvPicPr>
          <p:cNvPr id="6" name="Picture 5" descr="regression_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1600"/>
            <a:ext cx="11430000" cy="232568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3743009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555555"/>
                </a:solidFill>
                <a:latin typeface="맑은 고딕"/>
              </a:rPr>
              <a:t>그림 9. 공간 환경 변수 5개 × TARR OLS 회귀 산점도 (n=506)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5669280"/>
            <a:ext cx="113385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1A1A1A"/>
                </a:solidFill>
                <a:latin typeface="맑은 고딕"/>
              </a:rPr>
              <a:t>● OLS 결과: R² = 0.174 (모형 설명력 17.4%)</a:t>
            </a:r>
          </a:p>
          <a:p>
            <a:r>
              <a:rPr sz="1100" b="0">
                <a:solidFill>
                  <a:srgbClr val="1A1A1A"/>
                </a:solidFill>
                <a:latin typeface="맑은 고딕"/>
              </a:rPr>
              <a:t>● hot_link_ratio (r=0.332***): 고온링크 비율이 높은 집계구일수록 TARR 높음 — 가장 강한 관계</a:t>
            </a:r>
          </a:p>
          <a:p>
            <a:r>
              <a:rPr sz="1100" b="0">
                <a:solidFill>
                  <a:srgbClr val="1A1A1A"/>
                </a:solidFill>
                <a:latin typeface="맑은 고딕"/>
              </a:rPr>
              <a:t>● SVF (r=0.295***): SVF가 높은(개방된) 집계구일수록 TARR 높음 — 그늘 부족 ↔ 고온 링크</a:t>
            </a:r>
          </a:p>
          <a:p>
            <a:r>
              <a:rPr sz="1100" b="0">
                <a:solidFill>
                  <a:srgbClr val="1A1A1A"/>
                </a:solidFill>
                <a:latin typeface="맑은 고딕"/>
              </a:rPr>
              <a:t>● H/W ratio (r=−0.208***): 협곡비가 높을수록 TARR 낮음 — 건물 차폐로 그늘 확보</a:t>
            </a:r>
          </a:p>
          <a:p>
            <a:r>
              <a:rPr sz="1100" b="1">
                <a:solidFill>
                  <a:srgbClr val="1A1A1A"/>
                </a:solidFill>
                <a:latin typeface="맑은 고딕"/>
              </a:rPr>
              <a:t>● 해석: 이 회귀분석은 "MRT 선택의 근거"가 아닌 보조적 탐색 분석입니다.</a:t>
            </a:r>
          </a:p>
          <a:p>
            <a:r>
              <a:rPr sz="1100" b="0">
                <a:solidFill>
                  <a:srgbClr val="1A1A1A"/>
                </a:solidFill>
                <a:latin typeface="맑은 고딕"/>
              </a:rPr>
              <a:t>   MRT 활용의 타당성은 SOLWEIG 선행연구(Lindberg &amp; Grimmond 2011 등)로 뒷받침합니다.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22234"/>
                </a:solidFill>
                <a:latin typeface="맑은 고딕"/>
              </a:rPr>
              <a:t>Chapter 5.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47548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A1A1A"/>
                </a:solidFill>
                <a:latin typeface="맑은 고딕"/>
              </a:rPr>
              <a:t>한계점 및 향후 연구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78992"/>
            <a:ext cx="11457432" cy="18288"/>
          </a:xfrm>
          <a:prstGeom prst="rect">
            <a:avLst/>
          </a:prstGeom>
          <a:solidFill>
            <a:srgbClr val="B222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234440"/>
            <a:ext cx="1828800" cy="329184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한계점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719072"/>
            <a:ext cx="56692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1A1A1A"/>
                </a:solidFill>
                <a:latin typeface="맑은 고딕"/>
              </a:rPr>
              <a:t>● 바람 속도 균일 가정: va = 2.37 m/s 전 구간 동일 적용</a:t>
            </a:r>
          </a:p>
          <a:p>
            <a:r>
              <a:rPr sz="1100" b="0">
                <a:solidFill>
                  <a:srgbClr val="1A1A1A"/>
                </a:solidFill>
                <a:latin typeface="맑은 고딕"/>
              </a:rPr>
              <a:t>   → 도시 협곡 내 실제 풍속은 2~5배 변이 → 대류 효과 과소·과대 혼재</a:t>
            </a:r>
          </a:p>
          <a:p>
            <a:r>
              <a:rPr sz="1100" b="0">
                <a:solidFill>
                  <a:srgbClr val="1A1A1A"/>
                </a:solidFill>
                <a:latin typeface="맑은 고딕"/>
              </a:rPr>
              <a:t>   → 향후: CFD 시뮬레이션 또는 다점 S-DoT 풍속 보정 필요</a:t>
            </a:r>
          </a:p>
          <a:p>
            <a:r>
              <a:rPr sz="1100" b="0">
                <a:solidFill>
                  <a:srgbClr val="1A1A1A"/>
                </a:solidFill>
                <a:latin typeface="맑은 고딕"/>
              </a:rPr>
              <a:t/>
            </a:r>
          </a:p>
          <a:p>
            <a:r>
              <a:rPr sz="1100" b="0">
                <a:solidFill>
                  <a:srgbClr val="1A1A1A"/>
                </a:solidFill>
                <a:latin typeface="맑은 고딕"/>
              </a:rPr>
              <a:t>● GHI 단일 지점: 성동구 전체에 동일 일사량 적용</a:t>
            </a:r>
          </a:p>
          <a:p>
            <a:r>
              <a:rPr sz="1100" b="0">
                <a:solidFill>
                  <a:srgbClr val="1A1A1A"/>
                </a:solidFill>
                <a:latin typeface="맑은 고딕"/>
              </a:rPr>
              <a:t>   → 구름 패턴 등 미세 공간 차이 미반영</a:t>
            </a:r>
          </a:p>
          <a:p>
            <a:r>
              <a:rPr sz="1100" b="0">
                <a:solidFill>
                  <a:srgbClr val="1A1A1A"/>
                </a:solidFill>
                <a:latin typeface="맑은 고딕"/>
              </a:rPr>
              <a:t/>
            </a:r>
          </a:p>
          <a:p>
            <a:r>
              <a:rPr sz="1100" b="0">
                <a:solidFill>
                  <a:srgbClr val="1A1A1A"/>
                </a:solidFill>
                <a:latin typeface="맑은 고딕"/>
              </a:rPr>
              <a:t>● MRT 실측 검증 부재: SOLWEIG 약식 추정값 — 복사계 실측 비교 미수행</a:t>
            </a:r>
          </a:p>
          <a:p>
            <a:r>
              <a:rPr sz="1100" b="0">
                <a:solidFill>
                  <a:srgbClr val="1A1A1A"/>
                </a:solidFill>
                <a:latin typeface="맑은 고딕"/>
              </a:rPr>
              <a:t/>
            </a:r>
          </a:p>
          <a:p>
            <a:r>
              <a:rPr sz="1100" b="0">
                <a:solidFill>
                  <a:srgbClr val="1A1A1A"/>
                </a:solidFill>
                <a:latin typeface="맑은 고딕"/>
              </a:rPr>
              <a:t>● Hard Cut 행동 가정: 보행자가 고온 링크를 완전 회피한다는 실증 근거 없음</a:t>
            </a:r>
          </a:p>
          <a:p>
            <a:r>
              <a:rPr sz="1100" b="0">
                <a:solidFill>
                  <a:srgbClr val="1A1A1A"/>
                </a:solidFill>
                <a:latin typeface="맑은 고딕"/>
              </a:rPr>
              <a:t>   → "물리적 열스트레스 임계값"으로 재해석하여 행동적 의미와 구분</a:t>
            </a:r>
          </a:p>
          <a:p>
            <a:r>
              <a:rPr sz="1100" b="0">
                <a:solidFill>
                  <a:srgbClr val="1A1A1A"/>
                </a:solidFill>
                <a:latin typeface="맑은 고딕"/>
              </a:rPr>
              <a:t/>
            </a:r>
          </a:p>
          <a:p>
            <a:r>
              <a:rPr sz="1100" b="0">
                <a:solidFill>
                  <a:srgbClr val="1A1A1A"/>
                </a:solidFill>
                <a:latin typeface="맑은 고딕"/>
              </a:rPr>
              <a:t>● 집계구 도심 가정: 실제 거주민은 집계구 전역 분포 → 도심 출발은 근사치</a:t>
            </a:r>
          </a:p>
          <a:p>
            <a:r>
              <a:rPr sz="1100" b="0">
                <a:solidFill>
                  <a:srgbClr val="1A1A1A"/>
                </a:solidFill>
                <a:latin typeface="맑은 고딕"/>
              </a:rPr>
              <a:t/>
            </a:r>
          </a:p>
          <a:p>
            <a:r>
              <a:rPr sz="1100" b="0">
                <a:solidFill>
                  <a:srgbClr val="1A1A1A"/>
                </a:solidFill>
                <a:latin typeface="맑은 고딕"/>
              </a:rPr>
              <a:t>● 분석 기간: 2025.07.28–08.03 단일 폭염 이벤트(7일) — 사례 연구 수준, 일반화 한계</a:t>
            </a:r>
          </a:p>
          <a:p>
            <a:r>
              <a:rPr sz="1100" b="0">
                <a:solidFill>
                  <a:srgbClr val="1A1A1A"/>
                </a:solidFill>
                <a:latin typeface="맑은 고딕"/>
              </a:rPr>
              <a:t/>
            </a:r>
          </a:p>
          <a:p>
            <a:r>
              <a:rPr sz="1100" b="0">
                <a:solidFill>
                  <a:srgbClr val="1A1A1A"/>
                </a:solidFill>
                <a:latin typeface="맑은 고딕"/>
              </a:rPr>
              <a:t>● OSM 네트워크: 지하도·실내 공조 구간 등 열환경 양호 경로 미포함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719072"/>
            <a:ext cx="1847088" cy="329184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향후 연구 방향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0" y="1719072"/>
            <a:ext cx="5943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1A1A1A"/>
                </a:solidFill>
                <a:latin typeface="맑은 고딕"/>
              </a:rPr>
              <a:t>향후 연구 방향</a:t>
            </a:r>
          </a:p>
          <a:p>
            <a:r>
              <a:rPr sz="1100" b="0">
                <a:solidFill>
                  <a:srgbClr val="1A1A1A"/>
                </a:solidFill>
                <a:latin typeface="맑은 고딕"/>
              </a:rPr>
              <a:t/>
            </a:r>
          </a:p>
          <a:p>
            <a:r>
              <a:rPr sz="1100" b="0">
                <a:solidFill>
                  <a:srgbClr val="1A1A1A"/>
                </a:solidFill>
                <a:latin typeface="맑은 고딕"/>
              </a:rPr>
              <a:t>● 고령자 보행 속도(3.0 km/h) 분리 적용</a:t>
            </a:r>
          </a:p>
          <a:p>
            <a:r>
              <a:rPr sz="1100" b="0">
                <a:solidFill>
                  <a:srgbClr val="1A1A1A"/>
                </a:solidFill>
                <a:latin typeface="맑은 고딕"/>
              </a:rPr>
              <a:t>   → 폭염 취약계층(노인) 접근성 분석</a:t>
            </a:r>
          </a:p>
          <a:p>
            <a:r>
              <a:rPr sz="1100" b="0">
                <a:solidFill>
                  <a:srgbClr val="1A1A1A"/>
                </a:solidFill>
                <a:latin typeface="맑은 고딕"/>
              </a:rPr>
              <a:t/>
            </a:r>
          </a:p>
          <a:p>
            <a:r>
              <a:rPr sz="1100" b="0">
                <a:solidFill>
                  <a:srgbClr val="1A1A1A"/>
                </a:solidFill>
                <a:latin typeface="맑은 고딕"/>
              </a:rPr>
              <a:t>● QWEN 멀티모달 LLM 거리뷰 분석</a:t>
            </a:r>
          </a:p>
          <a:p>
            <a:r>
              <a:rPr sz="1100" b="0">
                <a:solidFill>
                  <a:srgbClr val="1A1A1A"/>
                </a:solidFill>
                <a:latin typeface="맑은 고딕"/>
              </a:rPr>
              <a:t>   → 거리 영상에서 SVF·그림자 자동 추출</a:t>
            </a:r>
          </a:p>
          <a:p>
            <a:r>
              <a:rPr sz="1100" b="0">
                <a:solidFill>
                  <a:srgbClr val="1A1A1A"/>
                </a:solidFill>
                <a:latin typeface="맑은 고딕"/>
              </a:rPr>
              <a:t>   → MRT 추정 자동화 파이프라인</a:t>
            </a:r>
          </a:p>
          <a:p>
            <a:r>
              <a:rPr sz="1100" b="0">
                <a:solidFill>
                  <a:srgbClr val="1A1A1A"/>
                </a:solidFill>
                <a:latin typeface="맑은 고딕"/>
              </a:rPr>
              <a:t/>
            </a:r>
          </a:p>
          <a:p>
            <a:r>
              <a:rPr sz="1100" b="0">
                <a:solidFill>
                  <a:srgbClr val="1A1A1A"/>
                </a:solidFill>
                <a:latin typeface="맑은 고딕"/>
              </a:rPr>
              <a:t>● CFD 또는 다점 S-DoT 풍속 연계</a:t>
            </a:r>
          </a:p>
          <a:p>
            <a:r>
              <a:rPr sz="1100" b="0">
                <a:solidFill>
                  <a:srgbClr val="1A1A1A"/>
                </a:solidFill>
                <a:latin typeface="맑은 고딕"/>
              </a:rPr>
              <a:t>   → 바람 공간 변이 반영한 MRT 정밀화</a:t>
            </a:r>
          </a:p>
          <a:p>
            <a:r>
              <a:rPr sz="1100" b="0">
                <a:solidFill>
                  <a:srgbClr val="1A1A1A"/>
                </a:solidFill>
                <a:latin typeface="맑은 고딕"/>
              </a:rPr>
              <a:t/>
            </a:r>
          </a:p>
          <a:p>
            <a:r>
              <a:rPr sz="1100" b="0">
                <a:solidFill>
                  <a:srgbClr val="1A1A1A"/>
                </a:solidFill>
                <a:latin typeface="맑은 고딕"/>
              </a:rPr>
              <a:t>● 쿨링 인프라 최적 배치 분석</a:t>
            </a:r>
          </a:p>
          <a:p>
            <a:r>
              <a:rPr sz="1100" b="0">
                <a:solidFill>
                  <a:srgbClr val="1A1A1A"/>
                </a:solidFill>
                <a:latin typeface="맑은 고딕"/>
              </a:rPr>
              <a:t>   → TARR 고취약 집계구 대상</a:t>
            </a:r>
          </a:p>
          <a:p>
            <a:r>
              <a:rPr sz="1100" b="0">
                <a:solidFill>
                  <a:srgbClr val="1A1A1A"/>
                </a:solidFill>
                <a:latin typeface="맑은 고딕"/>
              </a:rPr>
              <a:t>   → 그늘막·수경시설 배치 시뮬레이션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22234"/>
                </a:solidFill>
                <a:latin typeface="맑은 고딕"/>
              </a:rPr>
              <a:t>Chapter 6.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47548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A1A1A"/>
                </a:solidFill>
                <a:latin typeface="맑은 고딕"/>
              </a:rPr>
              <a:t>결론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78992"/>
            <a:ext cx="11457432" cy="18288"/>
          </a:xfrm>
          <a:prstGeom prst="rect">
            <a:avLst/>
          </a:prstGeom>
          <a:solidFill>
            <a:srgbClr val="B222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234440"/>
            <a:ext cx="1828800" cy="329184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요약 및 기여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719072"/>
            <a:ext cx="11338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A1A1A"/>
                </a:solidFill>
                <a:latin typeface="맑은 고딕"/>
              </a:rPr>
              <a:t>● 개념적 기여: Thermal Catchment Area 제안</a:t>
            </a:r>
          </a:p>
          <a:p>
            <a:r>
              <a:rPr sz="1200" b="0">
                <a:solidFill>
                  <a:srgbClr val="1A1A1A"/>
                </a:solidFill>
                <a:latin typeface="맑은 고딕"/>
              </a:rPr>
              <a:t>   → 폭염 시 MRT 기반 Hard Cut을 적용한 새로운 보행 접근성 공간 단위</a:t>
            </a:r>
          </a:p>
          <a:p>
            <a:r>
              <a:rPr sz="1200" b="0">
                <a:solidFill>
                  <a:srgbClr val="1A1A1A"/>
                </a:solidFill>
                <a:latin typeface="맑은 고딕"/>
              </a:rPr>
              <a:t>   → 기존 Catchment가 무시해온 열환경 제약을 공간 단위 자체에 내재화</a:t>
            </a:r>
          </a:p>
          <a:p>
            <a:r>
              <a:rPr sz="1200" b="0">
                <a:solidFill>
                  <a:srgbClr val="1A1A1A"/>
                </a:solidFill>
                <a:latin typeface="맑은 고딕"/>
              </a:rPr>
              <a:t/>
            </a:r>
          </a:p>
          <a:p>
            <a:r>
              <a:rPr sz="1200" b="1">
                <a:solidFill>
                  <a:srgbClr val="1A1A1A"/>
                </a:solidFill>
                <a:latin typeface="맑은 고딕"/>
              </a:rPr>
              <a:t>● 실증 결과: 성동구 집계구(n=506), MRT 55°C 기준, 13시 기준</a:t>
            </a:r>
          </a:p>
          <a:p>
            <a:r>
              <a:rPr sz="1200" b="0">
                <a:solidFill>
                  <a:srgbClr val="1A1A1A"/>
                </a:solidFill>
                <a:latin typeface="맑은 고딕"/>
              </a:rPr>
              <a:t>   → 집계구 평균 TARR 73.3% — 폭염 시 약 73%의 정류장 접근 기회 손실</a:t>
            </a:r>
          </a:p>
          <a:p>
            <a:r>
              <a:rPr sz="1200" b="0">
                <a:solidFill>
                  <a:srgbClr val="1A1A1A"/>
                </a:solidFill>
                <a:latin typeface="맑은 고딕"/>
              </a:rPr>
              <a:t>   → 서울숲역 80.0%, 행당역 77.6% 등 역별 손실율 차이 확인</a:t>
            </a:r>
          </a:p>
          <a:p>
            <a:r>
              <a:rPr sz="1200" b="0">
                <a:solidFill>
                  <a:srgbClr val="1A1A1A"/>
                </a:solidFill>
                <a:latin typeface="맑은 고딕"/>
              </a:rPr>
              <a:t/>
            </a:r>
          </a:p>
          <a:p>
            <a:r>
              <a:rPr sz="1200" b="1">
                <a:solidFill>
                  <a:srgbClr val="1A1A1A"/>
                </a:solidFill>
                <a:latin typeface="맑은 고딕"/>
              </a:rPr>
              <a:t>● 방법론적 기여: S-curve 발견 + Monte Carlo 불확실성 정량화</a:t>
            </a:r>
          </a:p>
          <a:p>
            <a:r>
              <a:rPr sz="1200" b="0">
                <a:solidFill>
                  <a:srgbClr val="1A1A1A"/>
                </a:solidFill>
                <a:latin typeface="맑은 고딕"/>
              </a:rPr>
              <a:t>   → 53~57°C 구간에서 TARR 88%→39% 급변 — 임계값 선택이 결과에 결정적</a:t>
            </a:r>
          </a:p>
          <a:p>
            <a:r>
              <a:rPr sz="1200" b="0">
                <a:solidFill>
                  <a:srgbClr val="1A1A1A"/>
                </a:solidFill>
                <a:latin typeface="맑은 고딕"/>
              </a:rPr>
              <a:t>   → Monte Carlo (N=2,000)로 임계값 불확실성을 확률적으로 전파</a:t>
            </a:r>
          </a:p>
          <a:p>
            <a:r>
              <a:rPr sz="1200" b="0">
                <a:solidFill>
                  <a:srgbClr val="1A1A1A"/>
                </a:solidFill>
                <a:latin typeface="맑은 고딕"/>
              </a:rPr>
              <a:t>   → 단일값 결과(73.3%)가 Monte Carlo 중앙값(70.2%)과 근접 — robust 확인</a:t>
            </a:r>
          </a:p>
          <a:p>
            <a:r>
              <a:rPr sz="1200" b="0">
                <a:solidFill>
                  <a:srgbClr val="1A1A1A"/>
                </a:solidFill>
                <a:latin typeface="맑은 고딕"/>
              </a:rPr>
              <a:t/>
            </a:r>
          </a:p>
          <a:p>
            <a:r>
              <a:rPr sz="1200" b="1">
                <a:solidFill>
                  <a:srgbClr val="1A1A1A"/>
                </a:solidFill>
                <a:latin typeface="맑은 고딕"/>
              </a:rPr>
              <a:t>● 정책적 함의</a:t>
            </a:r>
          </a:p>
          <a:p>
            <a:r>
              <a:rPr sz="1200" b="0">
                <a:solidFill>
                  <a:srgbClr val="1A1A1A"/>
                </a:solidFill>
                <a:latin typeface="맑은 고딕"/>
              </a:rPr>
              <a:t>   → TARR 고취약 집계구를 우선 쿨링 인프라 정비 대상으로 공간적 식별 가능</a:t>
            </a:r>
          </a:p>
          <a:p>
            <a:r>
              <a:rPr sz="1200" b="0">
                <a:solidFill>
                  <a:srgbClr val="1A1A1A"/>
                </a:solidFill>
                <a:latin typeface="맑은 고딕"/>
              </a:rPr>
              <a:t>   → Thermal Catchment는 기후 적응형 도시 접근성 계획의 공간 기준 단위로 활용 가능</a:t>
            </a:r>
          </a:p>
          <a:p>
            <a:r>
              <a:rPr sz="1200" b="0">
                <a:solidFill>
                  <a:srgbClr val="1A1A1A"/>
                </a:solidFill>
                <a:latin typeface="맑은 고딕"/>
              </a:rPr>
              <a:t/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6492240"/>
            <a:ext cx="11457432" cy="18288"/>
          </a:xfrm>
          <a:prstGeom prst="rect">
            <a:avLst/>
          </a:prstGeom>
          <a:solidFill>
            <a:srgbClr val="B222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