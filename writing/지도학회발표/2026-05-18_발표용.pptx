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7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42800"/>
            <a:ext cx="12193200" cy="11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620000"/>
            <a:ext cx="114732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A1A1A"/>
                </a:solidFill>
                <a:latin typeface="맑은 고딕"/>
              </a:rPr>
              <a:t>Thermal Catchment Area:</a:t>
            </a:r>
          </a:p>
          <a:p>
            <a:pPr algn="ctr"/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열노출을</a:t>
            </a:r>
            <a:r>
              <a:rPr sz="26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반영한</a:t>
            </a:r>
            <a:r>
              <a:rPr sz="26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보행</a:t>
            </a:r>
            <a:r>
              <a:rPr sz="26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환경</a:t>
            </a:r>
            <a:r>
              <a:rPr sz="26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접근성</a:t>
            </a:r>
            <a:r>
              <a:rPr sz="26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공간</a:t>
            </a:r>
            <a:r>
              <a:rPr sz="26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단위</a:t>
            </a:r>
            <a:r>
              <a:rPr sz="26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1A1A1A"/>
                </a:solidFill>
                <a:latin typeface="맑은 고딕"/>
              </a:rPr>
              <a:t>제안</a:t>
            </a:r>
            <a:endParaRPr sz="2600" b="1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0000" y="3311999"/>
            <a:ext cx="114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맑은 고딕"/>
              </a:rPr>
              <a:t>— MRT 기반 접근성 감소 분석 및 임계값 민감도 검증 —</a:t>
            </a:r>
          </a:p>
        </p:txBody>
      </p:sp>
      <p:sp>
        <p:nvSpPr>
          <p:cNvPr id="5" name="Rectangle 4"/>
          <p:cNvSpPr/>
          <p:nvPr/>
        </p:nvSpPr>
        <p:spPr>
          <a:xfrm>
            <a:off x="2160000" y="3816000"/>
            <a:ext cx="7873199" cy="180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0000" y="4031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</a:rPr>
              <a:t>신진 | 경희대학교 기후사회과학융합학과 석사과정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맑은 고딕"/>
              </a:rPr>
              <a:t>2026 대한지리학회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연구 배경 — 왜 기존 접근성 분석은 부족한가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기존 Catchment Area 분석의 전제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보행자는 물리적 도로만 있으면 어디든 동일한 조건에서 이동 가능하다는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기상 조건(열환경)은 접근성 계산에서 완전히 배제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8504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현실의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1384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기후변화로 도시 폭염 빈도·강도 급증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32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1A"/>
                </a:solidFill>
                <a:latin typeface="맑은 고딕"/>
              </a:rPr>
              <a:t>●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여름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한낮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보행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열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스트레스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→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실질적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이동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불가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구간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발생</a:t>
            </a:r>
            <a:endParaRPr sz="1050" b="0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0000" y="251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1A"/>
                </a:solidFill>
                <a:latin typeface="맑은 고딕"/>
              </a:rPr>
              <a:t>●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열환경은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'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속도를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늦추는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'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요인이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아니라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'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접근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자체를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막는</a:t>
            </a:r>
            <a:r>
              <a:rPr sz="1050" b="0" i="0" dirty="0">
                <a:solidFill>
                  <a:srgbClr val="1A1A1A"/>
                </a:solidFill>
                <a:latin typeface="맑은 고딕"/>
              </a:rPr>
              <a:t>' </a:t>
            </a:r>
            <a:r>
              <a:rPr sz="1050" b="0" i="0" dirty="0" err="1">
                <a:solidFill>
                  <a:srgbClr val="1A1A1A"/>
                </a:solidFill>
                <a:latin typeface="맑은 고딕"/>
              </a:rPr>
              <a:t>요인</a:t>
            </a:r>
            <a:endParaRPr sz="1050" b="0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0000" y="2771999"/>
            <a:ext cx="114732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B22234"/>
                </a:solidFill>
                <a:latin typeface="맑은 고딕"/>
              </a:rPr>
              <a:t>→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연구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공백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: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폭염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시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실제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도달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가능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범위를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공간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단위로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정식화한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연구</a:t>
            </a:r>
            <a:r>
              <a:rPr sz="1100" b="1" i="0" dirty="0">
                <a:solidFill>
                  <a:srgbClr val="B22234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B22234"/>
                </a:solidFill>
                <a:latin typeface="맑은 고딕"/>
              </a:rPr>
              <a:t>부재</a:t>
            </a:r>
            <a:endParaRPr sz="1100" b="1" i="0" dirty="0">
              <a:solidFill>
                <a:srgbClr val="B2223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선행연구 현황 및 연구 차별점 — 이미 있는 거 아닌가?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선행연구 유형 ① — 열환경 소프트 패널티 (가장 많은 유형)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대표: Thorsson et al. (2011), Chen et al. (2022)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UTCI·PET 값에 따라 보행 속도를 낮춤 → 이동 시간 증가, 접근성 점수 하락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78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한계: 접근 가능 범위 자체는 유지됨 — 어떻게든 '갈 수는 있다'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375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선행연구 유형 ② — 열쾌적 경로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32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열쾌적도가 높은 경로를 선호 경로로 추천 (개인 경로 수준)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51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한계: 집계구 단위 공간 취약성 분석이 아님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7719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선행연구 유형 ③ — Catchment Area 기반 접근성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3059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15분 도보권, 2SFCA 등 방법론 다수 존재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247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한계: 열환경 전혀 반영 안 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5063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이 연구의 차별점 — 3가지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379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① Hard Cut: 임계값 초과 링크를 네트워크에서 완전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" y="3981599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'느려진다'가 아니라 '그 길은 없어진다'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415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② 공간 단위 정식화: Thermal Catchment Area를 새로운 공간 단위로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" y="4341599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접근 가능한 공간 범위 자체가 줄어드는 현상을 정식화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" y="451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③ 임계값 불확실성 정량화: Monte Carlo로 기상 변동성 → TARR 신뢰구간 전파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4773599"/>
            <a:ext cx="114732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22234"/>
                </a:solidFill>
                <a:latin typeface="맑은 고딕"/>
              </a:rPr>
              <a:t>→ 기존 연구 어디에도 '폭염 시 도달 가능한 공간 범위' 자체를 정의한 연구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열환경 지표 비교 — 왜 기온도 UTCI도 아닌 MRT인가?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주요 열환경 지표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기온 (Tair) — 대기 온도만 측정. 그늘·햇볕 공간 차이 반영 불가.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000" y="15912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같은 기온이라도 직사광선 노출 여부에 따라 체감 완전히 다름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6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흑구온도 (Tg) — 복사열+대류열 측정. 점(點) 측정 장비 필요.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000" y="19512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링크 15,608개 각각에 산출 불가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12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UTCI — 기온+습도+풍속+MRT 통합, 국제 표준 열 스트레스 지표.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" y="23112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문제: 폭염일(Tair≈36°C)에서 전체 링크 99.9%가 동일 등급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" y="24840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공간 차별화 불가(포화). Hard Cut 기준으로 쓰면 사실상 전 구역 접근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6568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✓ — 인체가 주변 면(건물·하늘)으로부터 받는 평균 복사 에너지.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00" y="28440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SVF·태양 천정각·건물 차폐에 따라 링크별 계산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" y="30168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13시 기준 42–66°C, std 6.8°C → 공간 변이 안정적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2616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35496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MRT는 UTCI의 공간적 대리지표 — 도로 링크 단위 열환경 분석에 최적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37368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UTCI 기준(38°C)에 등가인 MRT 임계값(≈55°C)으로 역산 → UTCI와 연결고리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연구 목적 및 연구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연구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Thermal Catchment Area 개념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000" y="15912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폭염 시 실제 보행 가능 범위를 반영하는 새로운 공간 단위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6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서울 성동구 적용 → 실증적 유효성 확인 (파일럿 스터디)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232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연구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31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Q1. 폭염 조건에서 UTCI는 링크·집계구 단위 Hard Cut 기준으로 활용 가능한가?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" y="24984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불가하다면 어떤 대안 지표(MRT)가 공간 분화 능력을 유지하는가?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67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Q2. MRT 기반 Hard Cut 적용 시 기존 Catchment 대비 Thermal Catchment의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28584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대중교통 접근 가능 정류장은 얼마나 감소하는가?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03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Q3. MRT 임계값의 불확실성을 Monte Carlo로 전파했을 때 TARR의 확률 분포는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" y="3218400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어떠하며, 55°C 선택은 robust한가?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4631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핵심 지표 — TARR (Thermal Accessibility Reduction Rate)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375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TARR_i = (Classic 정류장 수 − Thermal 정류장 수) / Classic 정류장 수 × 100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39384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값이 클수록 폭염 시 대중교통 접근성 손실이 심각한 집계구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4197599"/>
            <a:ext cx="11437199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맑은 고딕"/>
              </a:rPr>
              <a:t>※ 이 연구는 실제 이동 행동 예측이 아닌 잠재적 접근성(potential accessibility)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4363200"/>
            <a:ext cx="11347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— 기존 Catchment Area 연구와 동일한 프레임에 열 제약을 추가한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연구 지역 및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연구 지역 — 서울특별시 성동구 (16.86 km²)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한강·중랑천 수변 / 서울숲 대형 녹지 / 왕십리·성수 업무지구 / 아파트 단지 혼재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도시 형태 이질성 높음 → 열환경 공간 변이 큼 (파일럿 연구 최적 대상)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78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지하철역 7개소 (왕십리·행당·응봉·뚝섬·성수·서울숲·옥수)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375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분석 기간 및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32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2025.07.28–08.03 폭염일 7일 평균 / 분석 시간: 13시 (열복사 피크)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51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9시·18시 추가 비교 → 13시에만 MRT ≥ 55°C 발생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7719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주요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3059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보행 네트워크: OpenStreetMap (osmnx) — 링크 15,608개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247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기상: 성동구 S-DoT 센서 57개소, 10분 간격 (Tair·RH·풍속)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43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일사량(GHI): Open-Meteo archive — 성동구 중심 단일 지점 607.6 W/m²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3621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집계구: 통계청 570개 (유효 분석 집계구 506개)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3808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대중교통: 지하철 7 + 버스 482 = 489개 정류장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3995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건물: OSM 건물 폴리곤 (SVF 산출용)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방법론 (1) — MRT 산출 및 임계값 역산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MRT 산출 — SOLWEIG 약식 (Lindberg &amp; Grimmond 2011)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핵심 복사 플럭스 수식을 Python으로 직접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입력: SVF (링크별) + Tair·RH (S-DoT IDW 보간) + GHI→DNI/DHI (Erbs 모델)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78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단파: K_sw = α_p [(1−SVF)·DHI + shadow·DNI·cosθ + SVF·DHI]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장파: L_lw = ε_p [SVF·L_sky + (1−SVF)·L_wall]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15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결과 (13시): 평균 54.1°C, 범위 42–66°C, std 6.8°C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339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↔ SVF 상관: r ≈ 0.89 (개방 공간일수록 뜨거움)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91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UTCI → MRT 임계값 역산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887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폭염일 UTCI 직접 사용 불가 (99.9% 포화) → MRT 임계값으로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07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UTCI = 38°C가 되는 MRT* 수치 탐색 (pythermalcomfort, 6차 다항식)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3333599"/>
            <a:ext cx="11347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UTCI 국제 기준 38°C  (Bröde et al. 2012)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000" y="3513599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↓ 역산  (Tair=36°C, RH=60%, v=2.37 m/s 고정)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" y="3686399"/>
            <a:ext cx="11347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MRT* ≈ 55°C  →  Hard Cut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" y="3938399"/>
            <a:ext cx="11437199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맑은 고딕"/>
              </a:rPr>
              <a:t>※ 55°C는 임의값이 아닌 UTCI 국제 기준에서 연역된 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방법론 (2) — Thermal Catchment &amp; TARR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Classic Catchment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집계구 중심점 → Dijkstra로 15분(900초) 이내 도달 가능 정류장 수 카운트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보행 속도 4.5 km/h / OSM 무방향 보행 네트워크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8504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Thermal Catchment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1384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≥ 55°C 링크를 네트워크에서 제거 → G_thermal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000" y="2325599"/>
            <a:ext cx="1123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  → → 제거 링크: 약 3,010개 (19.3%)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4984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G_thermal에서 동일하게 Dijkstra 실행 → 도달 가능 정류장 수 재산출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7575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TARR (Thermal Accessibility Reduction Rate)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304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TARR_i = (Classic_cnt − Thermal_cnt) / Classic_cnt × 100 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23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분석 대상: 506개 집계구 (Classic_cnt &gt; 0인 유효 집계구)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4919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Monte Carlo — 임계값 불확실성 전파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3779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기상 변수(Tair·RH·v)의 관측 분포로부터 MRT* 분포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3967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N(55°C, 4²)에서 2,000회 샘플링 → 집계구별 TARR 95% 신뢰구간 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415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목적: 임계값 55°C 선택의 자의성 검증 및 결과 Robustness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9.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결과 (1) — MRT 공간 분포 &amp; TARR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MRT 공간 분포 (13시, 전체 15,608개 링크)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평균 54.1°C / 범위 42–66°C / std 6.8°C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≥ 55°C 링크: 약 6,800개 (44%)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78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한강변·서울숲 개방 공간 → MRT 높음 / 고층 밀집 구역 → MRT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9시: 40.2°C / 18시: 38.4°C → 13시에만 55°C 초과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224799"/>
            <a:ext cx="103932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DDDDD"/>
                </a:solidFill>
                <a:latin typeface="맑은 고딕"/>
              </a:rPr>
              <a:t>[TARR 집계구 공간 분포 지도]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484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TARR 분포 (유효 집계구 n=506)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771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평균 73.3% / 중앙값 78.1% / std 23.5%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959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TARR = 0% (손실 없음): 51개 집계구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146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TARR &gt; 50%: 412개 집계구 (81.4%)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333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TARR = 100% (완전 차단): 87개 집계구 (17.2%)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3592799"/>
            <a:ext cx="11437199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맑은 고딕"/>
              </a:rPr>
              <a:t>※ 링크 44% 차단 → TARR 73.3%로 증폭되는 이유: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" y="3758399"/>
            <a:ext cx="11347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정류장 경로가 특정 링크에 집중 의존 → 그 링크 차단 시 접근 자체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0" y="3938399"/>
            <a:ext cx="11347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(보행 네트워크의 구조적 취약성 — S자 곡선에서 재확인)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41903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핵심: 9시·18시 TARR = 0% → 접근성 손실은 오직 폭염 피크(13시)에 집중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10.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결과 (2) — 역별 접근성 감소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집계구 중심점 기준 역별 접근 정류장 감소 (13시, MRT ≥ 55°C)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왕십리역   Classic 90개  →  Thermal 29개  (-67.8%)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행당역     Classic 116개 →  Thermal 26개  (-77.6%)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78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응봉역     Classic 68개  →  Thermal 20개  (-70.6%)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뚝섬역     Classic 50개  →  Thermal 17개  (-66.0%)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15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성수역     Classic 61개  →  Thermal 36개  (-41.0%)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339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서울숲역   Classic 45개  →  Thermal  9개  (-80.0%)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527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옥수역     Classic 38개  →  Thermal 18개  (-52.6%)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7863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서울숲역 -80.0% 최대: 서울숲 대형 개방 공간 인접 → SVF 높음 → MRT 높음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30743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성수역 -41.0% 상대적으로 낮음: 고층 건물 차폐 → 그늘 형성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3434399"/>
            <a:ext cx="103932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DDDDD"/>
                </a:solidFill>
                <a:latin typeface="맑은 고딕"/>
              </a:rPr>
              <a:t>[3시간대 비교 그래프 — 09시/13시/18시]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3693599"/>
            <a:ext cx="114732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22234"/>
                </a:solidFill>
                <a:latin typeface="맑은 고딕"/>
              </a:rPr>
              <a:t>→ 같은 역세권이라도 도시 형태에 따라 폭염 시 접근성 손실 편차 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11.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결과 (3) — Monte Carlo &amp; S자형 민감도 곡선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Monte Carlo 결과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임계값 분포: N(55°C, 4²) → 95% 범위 47–63°C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TARR 중앙값 (집계구 평균): 70.2% — 단일 임계값 73.3%와 유사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778399"/>
            <a:ext cx="114732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22234"/>
                </a:solidFill>
                <a:latin typeface="맑은 고딕"/>
              </a:rPr>
              <a:t>→ 55°C 선택이 기상 불확실성에 대해 robust함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483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S자형 민감도 곡선 — 핵심 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336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45°C: 제거 7,814개 (50%) → TARR 99.8%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5236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53°C: 제거 4,374개 (28%) → TARR 88.6%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7108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55°C: 제거 3,010개 (19%) → TARR 73.3%  ← 채택 임계값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897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57°C: 제거 1,953개 (13%) → TARR 39.0%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085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61°C: 제거   200개  (1%) → TARR  0.6%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3443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55→57°C 단 2°C 차이에서 TARR 73.3% → 39.0% (34.3%p 급락)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3632399"/>
            <a:ext cx="114732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22234"/>
                </a:solidFill>
                <a:latin typeface="맑은 고딕"/>
              </a:rPr>
              <a:t>→ 이 구간 링크들 = 네트워크 연결성 임계 구조 담당 'Bridge Links'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830399"/>
            <a:ext cx="114732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22234"/>
                </a:solidFill>
                <a:latin typeface="맑은 고딕"/>
              </a:rPr>
              <a:t>→ 소수 링크 그늘 조성만으로 대규모 접근성 회복 가능성 시사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4100399"/>
            <a:ext cx="103932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DDDDD"/>
                </a:solidFill>
                <a:latin typeface="맑은 고딕"/>
              </a:rPr>
              <a:t>[S자 민감도 곡선] / [Monte Carlo TARR CI 공간 분포 지도]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43595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방법론 Robustness: 중력모델 TARR 감소율(72.8%) vs 단순 카운트(72.9%),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4647599"/>
            <a:ext cx="11347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두 방법 상관 r = 0.979 → 공간 패턴이 측정 방법에 독립적으로 존재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12.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논의 — 연구의 의미와 정책 함의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Thermal Catchment Area의 개념적 기여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기존: 열환경 = 보행 속도를 낮추는 소프트 패널티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이 연구: 열환경 = 이동 가능 공간 범위 자체를 줄이는 Hard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78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'접근성 점수가 낮아진다' → '접근 가능 공간이 사라진다' 패러다임 전환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375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MRT 직접 사용의 타당성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32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폭염 조건에서 UTCI 기반 공간 분화 불가 (99.9% 포화)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51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MRT는 SVF·태양 기하학 기반으로 도시 형태 공간 이질성을 안정적으로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7719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정책적 함의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3059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폭염 피크(13–14시) 대중교통 접근성 보장을 위한 그늘 시설 확충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247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TARR &gt; 80% 집계구 → 우선 열 취약 지역 지정·지원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43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Bridge Links (55–57°C 구간) 식별 → 소수 링크 개선으로 대규모 접근성 회복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3621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Thermal Catchment 개념: 의료·공원·냉방시설 접근성 분석에도 범용 적용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15200"/>
            <a:ext cx="3600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34"/>
                </a:solidFill>
                <a:latin typeface="맑은 고딕"/>
              </a:rPr>
              <a:t>Chapter 13.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88800"/>
            <a:ext cx="1147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맑은 고딕"/>
              </a:rPr>
              <a:t>결론 및 향후 연구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15200"/>
            <a:ext cx="11473200" cy="25200"/>
          </a:xfrm>
          <a:prstGeom prst="rect">
            <a:avLst/>
          </a:prstGeom>
          <a:solidFill>
            <a:srgbClr val="B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1116000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결론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40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MRT ≥ 55°C Hard Cut → 13시 폭염 피크에서 집계구 평균 TARR 73.3%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591200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81.4%의 집계구에서 50% 이상 접근성 손실 / 17.2%는 완전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778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접근성 손실은 오직 폭염 피크(13시)에 집중 — 9시·18시 영향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5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결과는 측정 방법(단순 카운트 vs 중력모델)에 독립적으로 robust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2247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현재 연구의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512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파일럿 스터디 — 성동구 2025년 여름 단일 사례, 개념 가능성 확인에 초점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699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집계구 중심점 출발 가정 — 실제 거주 분포와 괴리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887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S-DoT 57개 센서 IDW 보간 — 평균 550m 간격, 국지 기상 변동 미반영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074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실내 경로(지하통로·냉방시설) 미반영 — 실제 접근성보다 보수적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261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실제 이동 데이터(GPS) 기반 행동 검증 미실시 — 향후 과제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520799"/>
            <a:ext cx="11473200" cy="22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21600" rIns="108000" bIns="2160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향후 연구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38087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공간 확장: 서울 전역 또는 타 도시·타 지역으로 적용 범위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39959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기간·연도 확장: 복수 연도 비교로 연도별 기상 변동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" y="41831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미래 시나리오: SSP 기후 시나리오 기반 미래 폭염 조건에서의 접근성 변화 예측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" y="43703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취약계층 확장: 노인 보행 속도(3.0 km/h) 적용 → 노인 전용 취약성 지도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" y="4557599"/>
            <a:ext cx="1138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</a:rPr>
              <a:t>● Bridge Links 체계화: 개선 우선순위 링크 지도 → 정책 개입점 시각화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2384</Words>
  <Application>Microsoft Macintosh PowerPoint</Application>
  <PresentationFormat>사용자 지정</PresentationFormat>
  <Paragraphs>198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신진</cp:lastModifiedBy>
  <cp:revision>2</cp:revision>
  <dcterms:created xsi:type="dcterms:W3CDTF">2013-01-27T09:14:16Z</dcterms:created>
  <dcterms:modified xsi:type="dcterms:W3CDTF">2026-05-19T00:36:23Z</dcterms:modified>
  <cp:category/>
</cp:coreProperties>
</file>